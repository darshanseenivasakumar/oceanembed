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Problem Statement ID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SIH26066</a:t>
            </a:r>
            <a:endParaRPr lang="en-US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Problem Statement Title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Subsurface ocean temperature from satellite observations  ‹fill from portal›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Theme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Disaster Management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PS Category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Software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Organisation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Ministry of Earth Sciences (INCOIS)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Team ID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‹fill from portal›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u="none">
                <a:solidFill>
                  <a:srgbClr val="12232B"/>
                </a:solidFill>
                <a:latin typeface="Arial"/>
              </a:rPr>
              <a:t>Team Name – </a:t>
            </a:r>
            <a:r>
              <a:rPr sz="1500" b="0" u="none">
                <a:solidFill>
                  <a:srgbClr val="12232B"/>
                </a:solidFill>
                <a:latin typeface="Arial"/>
              </a:rPr>
              <a:t>‹fill from portal›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OceanEmbed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‹fill from portal›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52144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u="none">
                <a:solidFill>
                  <a:srgbClr val="1F4E79"/>
                </a:solidFill>
                <a:latin typeface="Segoe UI Symbol"/>
              </a:rPr>
              <a:t>❖</a:t>
            </a:r>
            <a:r>
              <a:rPr sz="2200" b="1" u="sng">
                <a:solidFill>
                  <a:srgbClr val="1F4E79"/>
                </a:solidFill>
                <a:latin typeface="Arial"/>
              </a:rPr>
              <a:t> 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502920" y="1609344"/>
            <a:ext cx="6492240" cy="4681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Comprehensive OceanEmbed Subsurface Platform: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A web dashboard and reproducible pipeline that reconstructs daily ocean temperature at 15 depths from 0 to 1000 m across the North Indian Ocean, from surface observations alone.</a:t>
            </a:r>
          </a:p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Satellite-Only Input: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Runs on OSTIA sea-surface temperature, DUACS altimetry, SMOS-blended salinity, GLOBCURRENT surface currents and observational winds — no in-situ float is needed at prediction time, which is what makes it operational every day.</a:t>
            </a:r>
          </a:p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TS-Cast-NIO Model: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A 3-D CNN compresses an 11-day window of 7 surface maps into a 128-number ocean embedding, and a decoder expands it into a full profile — 549k parameters, kept deliberately small for the data available.</a:t>
            </a:r>
          </a:p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Uncertainty on Every Value: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The model predicts a spread alongside each temperature, so the product states where it should not be trusted instead of showing one confident number everywhere.</a:t>
            </a:r>
          </a:p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Independent Validation: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Scored against 963 Argo float profiles never seen in training — 0.91 °C RMSE over 12,727 comparisons, 24% better than climatology, and better at 14 of the 15 depths.</a:t>
            </a:r>
          </a:p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Derived Ocean Products: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Mixed-layer depth, thermocline depth, cyclone heat potential (TCHP / D26), eddy and upwelling detection, and anomaly maps — computed from the reconstructed profile, never assumed.</a:t>
            </a:r>
          </a:p>
          <a:p>
            <a:pPr marL="256032" indent="-256032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892" b="0" u="none">
                <a:solidFill>
                  <a:srgbClr val="12232B"/>
                </a:solidFill>
                <a:latin typeface="Segoe UI Symbol"/>
              </a:rPr>
              <a:t>➤  </a:t>
            </a:r>
            <a:r>
              <a:rPr sz="1050" b="1" u="none">
                <a:solidFill>
                  <a:srgbClr val="12232B"/>
                </a:solidFill>
                <a:latin typeface="Arial"/>
              </a:rPr>
              <a:t>Observation-Priority Map: </a:t>
            </a:r>
            <a:r>
              <a:rPr sz="1050" b="0" u="none">
                <a:solidFill>
                  <a:srgbClr val="12232B"/>
                </a:solidFill>
                <a:latin typeface="Arial"/>
              </a:rPr>
              <a:t>The uncertainty field ranks where the ocean is least known, turning a gap in knowledge into an answer to where the next Argo float should be deployed.</a:t>
            </a:r>
          </a:p>
        </p:txBody>
      </p:sp>
      <p:pic>
        <p:nvPicPr>
          <p:cNvPr id="15364" name="Picture 15363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207008"/>
            <a:ext cx="4160520" cy="49325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‹fill from portal›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52144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u="none">
                <a:solidFill>
                  <a:srgbClr val="1F4E79"/>
                </a:solidFill>
                <a:latin typeface="Segoe UI Symbol"/>
              </a:rPr>
              <a:t>❖</a:t>
            </a:r>
            <a:r>
              <a:rPr sz="2200" b="1" u="sng">
                <a:solidFill>
                  <a:srgbClr val="1F4E79"/>
                </a:solidFill>
                <a:latin typeface="Arial"/>
              </a:rPr>
              <a:t> Technology Stack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609344"/>
            <a:ext cx="60807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u="none">
                <a:solidFill>
                  <a:srgbClr val="12232B"/>
                </a:solidFill>
                <a:latin typeface="Arial"/>
              </a:rPr>
              <a:t>Languages &amp; Core: </a:t>
            </a:r>
            <a:r>
              <a:rPr sz="1100" b="0" u="none">
                <a:solidFill>
                  <a:srgbClr val="12232B"/>
                </a:solidFill>
                <a:latin typeface="Arial"/>
              </a:rPr>
              <a:t>Python 3.12, NumPy, pandas, PyArrow, PyYAML.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u="none">
                <a:solidFill>
                  <a:srgbClr val="12232B"/>
                </a:solidFill>
                <a:latin typeface="Arial"/>
              </a:rPr>
              <a:t>Ocean Data: </a:t>
            </a:r>
            <a:r>
              <a:rPr sz="1100" b="0" u="none">
                <a:solidFill>
                  <a:srgbClr val="12232B"/>
                </a:solidFill>
                <a:latin typeface="Arial"/>
              </a:rPr>
              <a:t>xarray, netCDF4, SciPy, copernicusmarine (CMEMS), argopy, erddapy.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u="none">
                <a:solidFill>
                  <a:srgbClr val="12232B"/>
                </a:solidFill>
                <a:latin typeface="Arial"/>
              </a:rPr>
              <a:t>AI / ML: </a:t>
            </a:r>
            <a:r>
              <a:rPr sz="1100" b="0" u="none">
                <a:solidFill>
                  <a:srgbClr val="12232B"/>
                </a:solidFill>
                <a:latin typeface="Arial"/>
              </a:rPr>
              <a:t>PyTorch — 3-D CNN encoder + depth decoder, 549k parameters; scikit-learn; LightGBM baseline and quantile uncertainty; CUDA.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u="none">
                <a:solidFill>
                  <a:srgbClr val="12232B"/>
                </a:solidFill>
                <a:latin typeface="Arial"/>
              </a:rPr>
              <a:t>Frontend &amp; Visualisation: </a:t>
            </a:r>
            <a:r>
              <a:rPr sz="1100" b="0" u="none">
                <a:solidFill>
                  <a:srgbClr val="12232B"/>
                </a:solidFill>
                <a:latin typeface="Arial"/>
              </a:rPr>
              <a:t>Streamlit — 15 feature modules behind one lazy registry; Plotly; Matplotlib.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u="none">
                <a:solidFill>
                  <a:srgbClr val="12232B"/>
                </a:solidFill>
                <a:latin typeface="Arial"/>
              </a:rPr>
              <a:t>API &amp; Export: </a:t>
            </a:r>
            <a:r>
              <a:rPr sz="1100" b="0" u="none">
                <a:solidFill>
                  <a:srgbClr val="12232B"/>
                </a:solidFill>
                <a:latin typeface="Arial"/>
              </a:rPr>
              <a:t>FastAPI, Uvicorn, and NetCDF / CSV / Parquet export.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u="none">
                <a:solidFill>
                  <a:srgbClr val="12232B"/>
                </a:solidFill>
                <a:latin typeface="Arial"/>
              </a:rPr>
              <a:t>Reproducibility: </a:t>
            </a:r>
            <a:r>
              <a:rPr sz="1100" b="0" u="none">
                <a:solidFill>
                  <a:srgbClr val="12232B"/>
                </a:solidFill>
                <a:latin typeface="Arial"/>
              </a:rPr>
              <a:t>pytest — 1,040 tests covering the code and the claims; Git; ruff; seeded configs; a SHA-256-verified frozen checkpoint manifest.</a:t>
            </a:r>
          </a:p>
        </p:txBody>
      </p:sp>
      <p:pic>
        <p:nvPicPr>
          <p:cNvPr id="17412" name="Picture 17411" descr="chi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170432"/>
            <a:ext cx="4709160" cy="4149656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420624" y="5394960"/>
            <a:ext cx="11338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u="none">
                <a:solidFill>
                  <a:srgbClr val="6B7C87"/>
                </a:solidFill>
                <a:latin typeface="Arial"/>
              </a:rPr>
              <a:t>METHODOLOGY AND PROCESS FOR IMPLEMENTATION</a:t>
            </a:r>
          </a:p>
        </p:txBody>
      </p:sp>
      <p:pic>
        <p:nvPicPr>
          <p:cNvPr id="17414" name="Picture 17413" descr="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5605272"/>
            <a:ext cx="1133856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‹fill from portal›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65760" y="1152144"/>
            <a:ext cx="5623560" cy="5138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10" b="0" u="none">
                <a:solidFill>
                  <a:srgbClr val="2E75B6"/>
                </a:solidFill>
                <a:latin typeface="Segoe UI Symbol"/>
              </a:rPr>
              <a:t>■ </a:t>
            </a:r>
            <a:r>
              <a:rPr sz="1010" b="1" u="none">
                <a:solidFill>
                  <a:srgbClr val="2E75B6"/>
                </a:solidFill>
                <a:latin typeface="Arial"/>
              </a:rPr>
              <a:t>Feasibility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1.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Technical: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Already built end-to-end — 388 gap-free days of satellite input, a trained model, and a running instrument. Not a proposal.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2.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Economic: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Every input is free and open. CMEMS and Argo cost nothing, training takes about 9 minutes on one GPU, and inference runs on a laptop.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3.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Operational: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The satellite L4 products are published daily and operationally, so the pipeline runs forward in near-real-time with no in-situ input.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</a:pPr>
            <a:r>
              <a:rPr sz="1010" b="0" u="none">
                <a:solidFill>
                  <a:srgbClr val="2E9E5B"/>
                </a:solidFill>
                <a:latin typeface="Segoe UI Symbol"/>
              </a:rPr>
              <a:t>■ </a:t>
            </a:r>
            <a:r>
              <a:rPr sz="1010" b="1" u="none">
                <a:solidFill>
                  <a:srgbClr val="2E9E5B"/>
                </a:solidFill>
                <a:latin typeface="Arial"/>
              </a:rPr>
              <a:t>Viability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4.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Scales beyond the pilot: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The architecture is region-agnostic — retargeting to another basin is a data-bundle change, not a redesign.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5.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Reproducible and auditable: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Seed, config and a SHA-256-verified checkpoint are frozen in a manifest, with 1,040 tests that guard the claims as well as the code.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</a:pPr>
            <a:r>
              <a:rPr sz="1010" b="0" u="none">
                <a:solidFill>
                  <a:srgbClr val="C55A11"/>
                </a:solidFill>
                <a:latin typeface="Segoe UI Symbol"/>
              </a:rPr>
              <a:t>■ </a:t>
            </a:r>
            <a:r>
              <a:rPr sz="1010" b="1" u="none">
                <a:solidFill>
                  <a:srgbClr val="C55A11"/>
                </a:solidFill>
                <a:latin typeface="Arial"/>
              </a:rPr>
              <a:t>Challenges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6.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The thermocline is the hard layer: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Error runs 1.06–1.24 °C through 50–150 m, peaking at 100 m where temperature falls fastest.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7.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Uncertainty is improved, not calibrated: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Coverage runs below nominal in the mixed layer. We report the shortfall rather than widening the band to hide it.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8.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Epoch selection was not independent: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The shipped epoch was chosen on the test period; a leak-free protocol costs +0.07 °C over three seeds.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9.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INCOIS gridded Argo is unreachable: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Their data layer is down, so validation uses individual argopy floats instead.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</a:pPr>
            <a:r>
              <a:rPr sz="1010" b="0" u="none">
                <a:solidFill>
                  <a:srgbClr val="7030A0"/>
                </a:solidFill>
                <a:latin typeface="Segoe UI Symbol"/>
              </a:rPr>
              <a:t>■ </a:t>
            </a:r>
            <a:r>
              <a:rPr sz="1010" b="1" u="none">
                <a:solidFill>
                  <a:srgbClr val="7030A0"/>
                </a:solidFill>
                <a:latin typeface="Arial"/>
              </a:rPr>
              <a:t>Use Cases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10.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Cyclone intensity: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upper-100 m heat content, the fuel a surface map cannot see.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11.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Monsoon &amp; fisheries: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Bay of Bengal stratification and Arabian Sea upwelling.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12.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Next-float targeting: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an uncertainty-ranked map of where the ocean is least known.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6172200" y="1152144"/>
            <a:ext cx="562356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10" b="0" u="none">
                <a:solidFill>
                  <a:srgbClr val="2E75B6"/>
                </a:solidFill>
                <a:latin typeface="Segoe UI Symbol"/>
              </a:rPr>
              <a:t>■ </a:t>
            </a:r>
            <a:r>
              <a:rPr sz="1010" b="1" u="none">
                <a:solidFill>
                  <a:srgbClr val="2E75B6"/>
                </a:solidFill>
                <a:latin typeface="Arial"/>
              </a:rPr>
              <a:t>Deployment Potential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1.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Hand-off to INCOIS / IMD: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A daily NetCDF field on a standard grid — directly ingestible by existing forecast and assimilation chains.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2.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Zero licence cost: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Open Copernicus and Argo data on an open-source stack.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3.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Fisheries &amp; naval advisories: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The same profile drives potential-fishing-zone and sonar-range products agencies already issue.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300"/>
              </a:spcAft>
            </a:pPr>
            <a:r>
              <a:rPr sz="1010" b="0" u="none">
                <a:solidFill>
                  <a:srgbClr val="2E9E5B"/>
                </a:solidFill>
                <a:latin typeface="Segoe UI Symbol"/>
              </a:rPr>
              <a:t>■ </a:t>
            </a:r>
            <a:r>
              <a:rPr sz="1010" b="1" u="none">
                <a:solidFill>
                  <a:srgbClr val="2E9E5B"/>
                </a:solidFill>
                <a:latin typeface="Arial"/>
              </a:rPr>
              <a:t>Strategies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4.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Robust data &amp; protocol: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388 gap-free days, a 5-day embargo between train and test, scored on 963 unseen floats.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5.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Modular integration: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15 lazily-loaded feature modules behind one registry — a broken feature contains itself.</a:t>
            </a:r>
          </a:p>
          <a:p>
            <a:pPr marL="237744" indent="-237744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 u="none">
                <a:solidFill>
                  <a:srgbClr val="6B7C87"/>
                </a:solidFill>
                <a:latin typeface="Arial"/>
              </a:rPr>
              <a:t>6. </a:t>
            </a:r>
            <a:r>
              <a:rPr sz="860" b="1" u="none">
                <a:solidFill>
                  <a:srgbClr val="12232B"/>
                </a:solidFill>
                <a:latin typeface="Arial"/>
              </a:rPr>
              <a:t>Refusal over invention: </a:t>
            </a:r>
            <a:r>
              <a:rPr sz="860" b="0" u="none">
                <a:solidFill>
                  <a:srgbClr val="12232B"/>
                </a:solidFill>
                <a:latin typeface="Arial"/>
              </a:rPr>
              <a:t>Below the seafloor the model returns nothing rather than a number, and the scorer declines those depths too.</a:t>
            </a:r>
          </a:p>
        </p:txBody>
      </p:sp>
      <p:pic>
        <p:nvPicPr>
          <p:cNvPr id="17412" name="Picture 17411" descr="fa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233672"/>
            <a:ext cx="5623560" cy="195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‹fill from portal›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188720"/>
            <a:ext cx="5532120" cy="216674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84048" y="3456432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u="none">
                <a:solidFill>
                  <a:srgbClr val="1F4E79"/>
                </a:solidFill>
                <a:latin typeface="Segoe UI Symbol"/>
              </a:rPr>
              <a:t>❖</a:t>
            </a:r>
            <a:r>
              <a:rPr sz="1400" b="1" u="sng">
                <a:solidFill>
                  <a:srgbClr val="1F4E79"/>
                </a:solidFill>
                <a:latin typeface="Arial"/>
              </a:rPr>
              <a:t> Potential impact on the target audience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20624" y="3858768"/>
            <a:ext cx="5532120" cy="2432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4592" indent="-164592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65" b="0" u="none">
                <a:solidFill>
                  <a:srgbClr val="12232B"/>
                </a:solidFill>
                <a:latin typeface="Segoe UI Symbol"/>
              </a:rPr>
              <a:t>•  </a:t>
            </a:r>
            <a:r>
              <a:rPr sz="900" b="1" u="none">
                <a:solidFill>
                  <a:srgbClr val="12232B"/>
                </a:solidFill>
                <a:latin typeface="Arial"/>
              </a:rPr>
              <a:t>INCOIS &amp; IMD: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A daily subsurface field with an uncertainty band — an input their cyclone and ocean-state forecasts currently lack at this cadence.</a:t>
            </a:r>
          </a:p>
          <a:p>
            <a:pPr marL="164592" indent="-164592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65" b="0" u="none">
                <a:solidFill>
                  <a:srgbClr val="12232B"/>
                </a:solidFill>
                <a:latin typeface="Segoe UI Symbol"/>
              </a:rPr>
              <a:t>•  </a:t>
            </a:r>
            <a:r>
              <a:rPr sz="900" b="1" u="none">
                <a:solidFill>
                  <a:srgbClr val="12232B"/>
                </a:solidFill>
                <a:latin typeface="Arial"/>
              </a:rPr>
              <a:t>Fisheries &amp; coastal communities: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Thermocline and mixed-layer depth drive fishing zones; a daily profile sharpens advisories that today rest on surface temperature alone.</a:t>
            </a:r>
          </a:p>
          <a:p>
            <a:pPr marL="164592" indent="-164592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65" b="0" u="none">
                <a:solidFill>
                  <a:srgbClr val="12232B"/>
                </a:solidFill>
                <a:latin typeface="Segoe UI Symbol"/>
              </a:rPr>
              <a:t>•  </a:t>
            </a:r>
            <a:r>
              <a:rPr sz="900" b="1" u="none">
                <a:solidFill>
                  <a:srgbClr val="12232B"/>
                </a:solidFill>
                <a:latin typeface="Arial"/>
              </a:rPr>
              <a:t>Indian Navy &amp; shipping: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Sound-speed structure follows the temperature profile, feeding sonar-range and routing decisions.</a:t>
            </a:r>
          </a:p>
          <a:p>
            <a:pPr marL="164592" indent="-164592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65" b="0" u="none">
                <a:solidFill>
                  <a:srgbClr val="12232B"/>
                </a:solidFill>
                <a:latin typeface="Segoe UI Symbol"/>
              </a:rPr>
              <a:t>•  </a:t>
            </a:r>
            <a:r>
              <a:rPr sz="900" b="1" u="none">
                <a:solidFill>
                  <a:srgbClr val="12232B"/>
                </a:solidFill>
                <a:latin typeface="Arial"/>
              </a:rPr>
              <a:t>Ocean researchers &amp; Argo: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A quantitative answer to where the next float is worth deploying.</a:t>
            </a:r>
          </a:p>
          <a:p>
            <a:pPr marL="164592" indent="-164592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765" b="0" u="none">
                <a:solidFill>
                  <a:srgbClr val="12232B"/>
                </a:solidFill>
                <a:latin typeface="Segoe UI Symbol"/>
              </a:rPr>
              <a:t>•  </a:t>
            </a:r>
            <a:r>
              <a:rPr sz="900" b="1" u="none">
                <a:solidFill>
                  <a:srgbClr val="12232B"/>
                </a:solidFill>
                <a:latin typeface="Arial"/>
              </a:rPr>
              <a:t>Disaster management: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Upper-ocean heat is the fuel term in rapid cyclone intensification — the failure mode that costs the most lives on this coast.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172200" y="1152144"/>
            <a:ext cx="5669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u="none">
                <a:solidFill>
                  <a:srgbClr val="1F4E79"/>
                </a:solidFill>
                <a:latin typeface="Segoe UI Symbol"/>
              </a:rPr>
              <a:t>❖</a:t>
            </a:r>
            <a:r>
              <a:rPr sz="1800" b="1" u="sng">
                <a:solidFill>
                  <a:srgbClr val="1F4E79"/>
                </a:solidFill>
                <a:latin typeface="Arial"/>
              </a:rPr>
              <a:t> Benefits of the solution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217920" y="1572768"/>
            <a:ext cx="5623560" cy="4718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u="none">
                <a:solidFill>
                  <a:srgbClr val="6E8B5E"/>
                </a:solidFill>
                <a:latin typeface="Arial"/>
              </a:rPr>
              <a:t>Social: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Better cyclone-intensity input for the most densely populated cyclone basin.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Sharper fishing-zone advisories for small-scale fishers.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Uncertainty shown on screen, so an advisory states its confidence instead of implying certainty.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</a:pPr>
            <a:r>
              <a:rPr sz="1100" b="1" u="none">
                <a:solidFill>
                  <a:srgbClr val="C0504D"/>
                </a:solidFill>
                <a:latin typeface="Arial"/>
              </a:rPr>
              <a:t>Technological: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Targets the North Indian Ocean, where most published work targets the Pacific.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An uncertainty head trained jointly with temperature, not bolted on afterwards.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Negative results published beside positive ones — the FiLM decoder and the density loss were both measured harmful and dropped.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</a:pPr>
            <a:r>
              <a:rPr sz="1100" b="1" u="none">
                <a:solidFill>
                  <a:srgbClr val="7C61A8"/>
                </a:solidFill>
                <a:latin typeface="Arial"/>
              </a:rPr>
              <a:t>Economic: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Zero data-licensing cost: Copernicus and Argo are open, and so is the stack.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About 9 minutes of GPU training and laptop-class inference.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Targets Argo deployment — the costliest part of ocean observation — where information is scarcest.</a:t>
            </a:r>
          </a:p>
          <a:p>
            <a:pPr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</a:pPr>
            <a:r>
              <a:rPr sz="1100" b="1" u="none">
                <a:solidFill>
                  <a:srgbClr val="3E8E4F"/>
                </a:solidFill>
                <a:latin typeface="Arial"/>
              </a:rPr>
              <a:t>Environmental: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Monitors ocean heat content, the dominant store of excess planetary heat.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Sees subsurface heat and upwelling that surface-only monitoring is blind to.</a:t>
            </a:r>
          </a:p>
          <a:p>
            <a:pPr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u="none">
                <a:solidFill>
                  <a:srgbClr val="6B7C87"/>
                </a:solidFill>
                <a:latin typeface="Arial"/>
              </a:rPr>
              <a:t>•  </a:t>
            </a:r>
            <a:r>
              <a:rPr sz="900" b="0" u="none">
                <a:solidFill>
                  <a:srgbClr val="12232B"/>
                </a:solidFill>
                <a:latin typeface="Arial"/>
              </a:rPr>
              <a:t>Reduces redundant ship survey by targeting where observation adds information.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‹fill from portal›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52144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u="none">
                <a:solidFill>
                  <a:srgbClr val="1F4E79"/>
                </a:solidFill>
                <a:latin typeface="Segoe UI Symbol"/>
              </a:rPr>
              <a:t>❖</a:t>
            </a:r>
            <a:r>
              <a:rPr sz="1700" b="1" u="sng">
                <a:solidFill>
                  <a:srgbClr val="1F4E79"/>
                </a:solidFill>
                <a:latin typeface="Arial"/>
              </a:rPr>
              <a:t> Key literature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554480"/>
            <a:ext cx="56692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Meng et al., 2021.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Reconstruction of Three-Dimensional Temperature and Salinity Fields From Satellite Observations. JGR: Oceans. doi:10.1029/2021JC017605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TS-Cast, 2026.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Deep Learning for Subsurface Ocean Reconstruction from Satellite Observations in the Northwestern Pacific. Ocean Science 22, 2161.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DORS, 2022.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Subsurface Temperature Reconstruction for the Global Ocean 1993-2020 Using Satellite Observations and Deep Learning. Remote Sensing 14(13), 3198. doi:10.3390/rs14133198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FFPG-net, 2025.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Feature fusion with physical guidance for subsurface thermal structure reconstruction.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NeSPReSO, 2025.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PCA + neural network subsurface prediction, Gulf of Mexico.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0" y="1152144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u="none">
                <a:solidFill>
                  <a:srgbClr val="1F4E79"/>
                </a:solidFill>
                <a:latin typeface="Segoe UI Symbol"/>
              </a:rPr>
              <a:t>❖</a:t>
            </a:r>
            <a:r>
              <a:rPr sz="1700" b="1" u="sng">
                <a:solidFill>
                  <a:srgbClr val="1F4E79"/>
                </a:solidFill>
                <a:latin typeface="Arial"/>
              </a:rPr>
              <a:t> Data and problem statement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492240" y="1554480"/>
            <a:ext cx="5349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Surface inputs (Copernicus Marine):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OSTIA sea-surface temperature; DUACS L4 altimetry (cmems_obs-sl_glo_phy-ssh); SMOS-blended salinity (cmems_obs-mob_glo_phy-sss); GLOBCURRENT currents (cmems_obs-mob_glo_phy-cur); L4 wind (cmems_obs-wind_glo_phy).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Training target: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GLORYS12V1 reanalysis, cmems_mod_glo_phy_my_0.083deg_P1D (doi:10.48670/moi-00021), as the problem statement specifies.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Independent validation: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Argo float profiles via argopy — 963 profiles, 12,727 depth comparisons, never seen in training.</a:t>
            </a:r>
          </a:p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u="none">
                <a:solidFill>
                  <a:srgbClr val="1D7874"/>
                </a:solidFill>
                <a:latin typeface="Segoe UI Symbol"/>
              </a:rPr>
              <a:t>▸  </a:t>
            </a:r>
            <a:r>
              <a:rPr sz="950" b="1" u="none">
                <a:solidFill>
                  <a:srgbClr val="12232B"/>
                </a:solidFill>
                <a:latin typeface="Arial"/>
              </a:rPr>
              <a:t>Problem statement: </a:t>
            </a:r>
            <a:r>
              <a:rPr sz="950" b="0" u="none">
                <a:solidFill>
                  <a:srgbClr val="12232B"/>
                </a:solidFill>
                <a:latin typeface="Arial"/>
              </a:rPr>
              <a:t>SIH26066, Ministry of Earth Sciences (INCOIS) — three-dimensional ocean temperature from only surface satellite observations; 5–30°N, 45–105°E, 0.25°, daily.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5440680"/>
            <a:ext cx="11338560" cy="777240"/>
          </a:xfrm>
          <a:prstGeom prst="roundRect">
            <a:avLst/>
          </a:prstGeom>
          <a:solidFill>
            <a:srgbClr val="FFF6E8"/>
          </a:solidFill>
          <a:ln>
            <a:solidFill>
              <a:srgbClr val="E09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u="none">
                <a:solidFill>
                  <a:srgbClr val="6B4415"/>
                </a:solidFill>
                <a:latin typeface="Arial"/>
              </a:rPr>
              <a:t>Citation discipline: the five papers above are reviewed at abstract level (docs/LITERATURE_MATRIX.md). They are cited for existence and general approach only. No numerical comparison against their published results appears anywhere in this deck.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