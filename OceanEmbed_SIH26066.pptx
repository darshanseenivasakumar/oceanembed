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OceanEmbed</c:v>
                </c:pt>
              </c:strCache>
            </c:strRef>
          </c:tx>
          <c:spPr>
            <a:solidFill>
              <a:srgbClr val="1C729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Sheet1!$A$2:$A$16</c:f>
              <c:multiLvlStrCache>
                <c:ptCount val="15"/>
                <c:lvl>
                  <c:pt idx="0">
                    <c:v>0</c:v>
                  </c:pt>
                  <c:pt idx="1">
                    <c:v>5</c:v>
                  </c:pt>
                  <c:pt idx="2">
                    <c:v>10</c:v>
                  </c:pt>
                  <c:pt idx="3">
                    <c:v>20</c:v>
                  </c:pt>
                  <c:pt idx="4">
                    <c:v>30</c:v>
                  </c:pt>
                  <c:pt idx="5">
                    <c:v>50</c:v>
                  </c:pt>
                  <c:pt idx="6">
                    <c:v>75</c:v>
                  </c:pt>
                  <c:pt idx="7">
                    <c:v>100</c:v>
                  </c:pt>
                  <c:pt idx="8">
                    <c:v>125</c:v>
                  </c:pt>
                  <c:pt idx="9">
                    <c:v>150</c:v>
                  </c:pt>
                  <c:pt idx="10">
                    <c:v>200</c:v>
                  </c:pt>
                  <c:pt idx="11">
                    <c:v>300</c:v>
                  </c:pt>
                  <c:pt idx="12">
                    <c:v>500</c:v>
                  </c:pt>
                  <c:pt idx="13">
                    <c:v>700</c:v>
                  </c:pt>
                  <c:pt idx="14">
                    <c:v>1000</c:v>
                  </c:pt>
                </c:lvl>
              </c:multiLvlStrCache>
            </c:multiLvlStrRef>
          </c:cat>
          <c:val>
            <c:numRef>
              <c:f>Sheet1!$B$2:$B$16</c:f>
              <c:numCache>
                <c:formatCode>General</c:formatCode>
                <c:ptCount val="15"/>
                <c:pt idx="0">
                  <c:v>0.4074</c:v>
                </c:pt>
                <c:pt idx="1">
                  <c:v>0.4282</c:v>
                </c:pt>
                <c:pt idx="2">
                  <c:v>0.4626</c:v>
                </c:pt>
                <c:pt idx="3">
                  <c:v>0.7419</c:v>
                </c:pt>
                <c:pt idx="4">
                  <c:v>0.9651</c:v>
                </c:pt>
                <c:pt idx="5">
                  <c:v>1.1366</c:v>
                </c:pt>
                <c:pt idx="6">
                  <c:v>0.9957</c:v>
                </c:pt>
                <c:pt idx="7">
                  <c:v>1.1696</c:v>
                </c:pt>
                <c:pt idx="8">
                  <c:v>1.1754</c:v>
                </c:pt>
                <c:pt idx="9">
                  <c:v>1.0656</c:v>
                </c:pt>
                <c:pt idx="10">
                  <c:v>0.9336</c:v>
                </c:pt>
                <c:pt idx="11">
                  <c:v>0.9033</c:v>
                </c:pt>
                <c:pt idx="12">
                  <c:v>0.5638</c:v>
                </c:pt>
                <c:pt idx="13">
                  <c:v>0.379</c:v>
                </c:pt>
                <c:pt idx="14">
                  <c:v>0.2272</c:v>
                </c:pt>
              </c:numCache>
            </c:numRef>
          </c:val>
        </c:ser>
        <c:ser>
          <c:idx val="1"/>
          <c:order val="1"/>
          <c:tx>
            <c:strRef>
              <c:f>Sheet1!$C$1</c:f>
              <c:strCache>
                <c:ptCount val="1"/>
                <c:pt idx="0">
                  <c:v>Seasonal average</c:v>
                </c:pt>
              </c:strCache>
            </c:strRef>
          </c:tx>
          <c:spPr>
            <a:solidFill>
              <a:srgbClr val="C7D6D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Sheet1!$A$2:$A$16</c:f>
              <c:multiLvlStrCache>
                <c:ptCount val="15"/>
                <c:lvl>
                  <c:pt idx="0">
                    <c:v>0</c:v>
                  </c:pt>
                  <c:pt idx="1">
                    <c:v>5</c:v>
                  </c:pt>
                  <c:pt idx="2">
                    <c:v>10</c:v>
                  </c:pt>
                  <c:pt idx="3">
                    <c:v>20</c:v>
                  </c:pt>
                  <c:pt idx="4">
                    <c:v>30</c:v>
                  </c:pt>
                  <c:pt idx="5">
                    <c:v>50</c:v>
                  </c:pt>
                  <c:pt idx="6">
                    <c:v>75</c:v>
                  </c:pt>
                  <c:pt idx="7">
                    <c:v>100</c:v>
                  </c:pt>
                  <c:pt idx="8">
                    <c:v>125</c:v>
                  </c:pt>
                  <c:pt idx="9">
                    <c:v>150</c:v>
                  </c:pt>
                  <c:pt idx="10">
                    <c:v>200</c:v>
                  </c:pt>
                  <c:pt idx="11">
                    <c:v>300</c:v>
                  </c:pt>
                  <c:pt idx="12">
                    <c:v>500</c:v>
                  </c:pt>
                  <c:pt idx="13">
                    <c:v>700</c:v>
                  </c:pt>
                  <c:pt idx="14">
                    <c:v>1000</c:v>
                  </c:pt>
                </c:lvl>
              </c:multiLvlStrCache>
            </c:multiLvlStrRef>
          </c:cat>
          <c:val>
            <c:numRef>
              <c:f>Sheet1!$C$2:$C$16</c:f>
              <c:numCache>
                <c:formatCode>General</c:formatCode>
                <c:ptCount val="15"/>
                <c:pt idx="0">
                  <c:v>0.75</c:v>
                </c:pt>
                <c:pt idx="1">
                  <c:v>1.0035</c:v>
                </c:pt>
                <c:pt idx="2">
                  <c:v>0.9944</c:v>
                </c:pt>
                <c:pt idx="3">
                  <c:v>1.1287</c:v>
                </c:pt>
                <c:pt idx="4">
                  <c:v>1.308</c:v>
                </c:pt>
                <c:pt idx="5">
                  <c:v>1.295</c:v>
                </c:pt>
                <c:pt idx="6">
                  <c:v>1.3198</c:v>
                </c:pt>
                <c:pt idx="7">
                  <c:v>1.5501</c:v>
                </c:pt>
                <c:pt idx="8">
                  <c:v>1.6282</c:v>
                </c:pt>
                <c:pt idx="9">
                  <c:v>1.53</c:v>
                </c:pt>
                <c:pt idx="10">
                  <c:v>1.5917</c:v>
                </c:pt>
                <c:pt idx="11">
                  <c:v>1.2678</c:v>
                </c:pt>
                <c:pt idx="12">
                  <c:v>0.6425</c:v>
                </c:pt>
                <c:pt idx="13">
                  <c:v>0.4319</c:v>
                </c:pt>
                <c:pt idx="14">
                  <c:v>0.2928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E7A8C"/>
                    </a:solidFill>
                    <a:latin typeface="Arial"/>
                  </a:defRPr>
                </a:pPr>
                <a:r>
                  <a:rPr sz="1000" b="0" i="0" u="none" strike="noStrike">
                    <a:solidFill>
                      <a:srgbClr val="5E7A8C"/>
                    </a:solidFill>
                    <a:latin typeface="Arial"/>
                  </a:rPr>
                  <a:t>Depth (m)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E7A8C"/>
                </a:solidFill>
                <a:latin typeface="Arial"/>
              </a:defRPr>
            </a:pPr>
            <a:endParaRPr lang="en-US"/>
          </a:p>
        </c:txPr>
        <c:crossAx val="2094734552"/>
        <c:crosses val="autoZero"/>
        <c:auto val="1"/>
        <c:lblAlgn val="ctr"/>
        <c:noMultiLvlLbl val="1"/>
      </c:catAx>
      <c:valAx>
        <c:axId val="2094734552"/>
        <c:scaling>
          <c:orientation val="minMax"/>
          <c:max val="1.8"/>
        </c:scaling>
        <c:delete val="0"/>
        <c:axPos val="l"/>
        <c:majorGridlines>
          <c:spPr>
            <a:ln w="12700" cap="flat">
              <a:solidFill>
                <a:srgbClr val="EAF0F3"/>
              </a:solidFill>
              <a:prstDash val="solid"/>
              <a:round/>
            </a:ln>
          </c:spPr>
        </c:majorGridlines>
        <c:title>
          <c:tx>
            <c:rich>
              <a:bodyPr/>
              <a:lstStyle/>
              <a:p>
                <a:pPr>
                  <a:defRPr sz="1000" b="0" i="0" u="none" strike="noStrike">
                    <a:solidFill>
                      <a:srgbClr val="5E7A8C"/>
                    </a:solidFill>
                    <a:latin typeface="Arial"/>
                  </a:defRPr>
                </a:pPr>
                <a:r>
                  <a:rPr sz="1000" b="0" i="0" u="none" strike="noStrike">
                    <a:solidFill>
                      <a:srgbClr val="5E7A8C"/>
                    </a:solidFill>
                    <a:latin typeface="Arial"/>
                  </a:rPr>
                  <a:t>Error (°C)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7A8C"/>
                </a:solidFill>
                <a:latin typeface="Arial"/>
              </a:defRPr>
            </a:pPr>
            <a:endParaRPr lang="en-US"/>
          </a:p>
        </c:txPr>
        <c:crossAx val="2094734554"/>
        <c:crosses val="autoZero"/>
        <c:crossBetween val="between"/>
        <c:majorUnit val="0.3"/>
      </c:valAx>
      <c:spPr>
        <a:noFill/>
        <a:ln>
          <a:noFill/>
        </a:ln>
        <a:effectLst/>
      </c:spPr>
    </c:plotArea>
    <c:legend>
      <c:legendPos val="t"/>
      <c:overlay val="0"/>
      <c:txPr>
        <a:bodyPr/>
        <a:lstStyle/>
        <a:p>
          <a:pPr>
            <a:defRPr sz="1100">
              <a:solidFill>
                <a:srgbClr val="5E7A8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satellites map the ocean surface every day, but the heat that drives cyclones and the monsoon sits tens to hundreds of metres down, where we barely measure anything daily. OceanEmbed reconstructs that hidden column from what the surface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is not surface data and it is not deep data. It is DAILY deep data. Argo gives us truth, but only where a float happened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compact embedding is the heart of the problem statement: compress the surface into something small that still carries depth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is a requirement in the problem statement: 0.25 degrees, daily, 15 named depths to 1000 m. They are frozen in config.py and imported everywhere - nothing is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look back in time, compress to a small embedding, expand into depth. The 128-number embedding is what the problem statement calls the compact satellite embedding.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jury asks one hard question, it is usually about leakage. We found ours, wrote the failing test first, fixed it, and re-ran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0.9078 degC RMSE, mean per-depth correlation 0.8812, bias +0.1003 degC, skill 0.2595 against climatology RMSE of 1.2259. The Murphy skill (1 - MSE/MSE_clim) is 0.4517 - we quote only the conservative RMSE-ratio figure, never both together. These are the SHIPPED satellite-input run; an earlier draft of this note quoted the GLORYS-fed comparator (0.8645) by mistake, which is the one number we must never present as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thermocline is the honest weak point of every method in this family. We show it rather than reporting a single pooled number that hides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Calibration ratios at 5-10 m are 1.18-1.27 with 1-sigma coverage 0.57 against a 0.683 target. MC-dropout was 1.56-3.54 across all depths, which is much worse. These are the shipped satellite run; an earlier draft quoted the GLORYS-fed comparator's 1.32-1.37.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applications the problem statement points at. The observation-priority use is the one judges tend to find most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the remaining gaps is deliberate. Judges test claims; a team that already named its own gaps is far harder to catch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trust, not on the number. The uncertainty band and the leakage fix are what separate this from a demo that merely looks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7635240" y="1243584"/>
            <a:ext cx="3886200" cy="365760"/>
          </a:xfrm>
          <a:prstGeom prst="roundRect">
            <a:avLst>
              <a:gd name="adj" fmla="val 12500"/>
            </a:avLst>
          </a:prstGeom>
          <a:solidFill>
            <a:srgbClr val="A8DCE8"/>
          </a:solidFill>
          <a:ln w="12700">
            <a:solidFill>
              <a:srgbClr val="A8DCE8"/>
            </a:solidFill>
            <a:prstDash val="solid"/>
          </a:ln>
        </p:spPr>
      </p:sp>
      <p:sp>
        <p:nvSpPr>
          <p:cNvPr id="3" name="Shape 1"/>
          <p:cNvSpPr/>
          <p:nvPr/>
        </p:nvSpPr>
        <p:spPr>
          <a:xfrm>
            <a:off x="7635240" y="1728216"/>
            <a:ext cx="3886200" cy="365760"/>
          </a:xfrm>
          <a:prstGeom prst="roundRect">
            <a:avLst>
              <a:gd name="adj" fmla="val 12500"/>
            </a:avLst>
          </a:prstGeom>
          <a:solidFill>
            <a:srgbClr val="8ACBDE"/>
          </a:solidFill>
          <a:ln w="12700">
            <a:solidFill>
              <a:srgbClr val="8ACBDE"/>
            </a:solidFill>
            <a:prstDash val="solid"/>
          </a:ln>
        </p:spPr>
      </p:sp>
      <p:sp>
        <p:nvSpPr>
          <p:cNvPr id="4" name="Shape 2"/>
          <p:cNvSpPr/>
          <p:nvPr/>
        </p:nvSpPr>
        <p:spPr>
          <a:xfrm>
            <a:off x="7635240" y="2212848"/>
            <a:ext cx="3886200" cy="365760"/>
          </a:xfrm>
          <a:prstGeom prst="roundRect">
            <a:avLst>
              <a:gd name="adj" fmla="val 12500"/>
            </a:avLst>
          </a:prstGeom>
          <a:solidFill>
            <a:srgbClr val="6AB6CE"/>
          </a:solidFill>
          <a:ln w="12700">
            <a:solidFill>
              <a:srgbClr val="6AB6CE"/>
            </a:solidFill>
            <a:prstDash val="solid"/>
          </a:ln>
        </p:spPr>
      </p:sp>
      <p:sp>
        <p:nvSpPr>
          <p:cNvPr id="5" name="Shape 3"/>
          <p:cNvSpPr/>
          <p:nvPr/>
        </p:nvSpPr>
        <p:spPr>
          <a:xfrm>
            <a:off x="7635240" y="2697480"/>
            <a:ext cx="3886200" cy="365760"/>
          </a:xfrm>
          <a:prstGeom prst="roundRect">
            <a:avLst>
              <a:gd name="adj" fmla="val 12500"/>
            </a:avLst>
          </a:prstGeom>
          <a:solidFill>
            <a:srgbClr val="4B9FBC"/>
          </a:solidFill>
          <a:ln w="12700">
            <a:solidFill>
              <a:srgbClr val="4B9FBC"/>
            </a:solidFill>
            <a:prstDash val="solid"/>
          </a:ln>
        </p:spPr>
      </p:sp>
      <p:sp>
        <p:nvSpPr>
          <p:cNvPr id="6" name="Shape 4"/>
          <p:cNvSpPr/>
          <p:nvPr/>
        </p:nvSpPr>
        <p:spPr>
          <a:xfrm>
            <a:off x="7635240" y="3182112"/>
            <a:ext cx="3886200" cy="365760"/>
          </a:xfrm>
          <a:prstGeom prst="roundRect">
            <a:avLst>
              <a:gd name="adj" fmla="val 12500"/>
            </a:avLst>
          </a:prstGeom>
          <a:solidFill>
            <a:srgbClr val="33879F"/>
          </a:solidFill>
          <a:ln w="12700">
            <a:solidFill>
              <a:srgbClr val="33879F"/>
            </a:solidFill>
            <a:prstDash val="solid"/>
          </a:ln>
        </p:spPr>
      </p:sp>
      <p:sp>
        <p:nvSpPr>
          <p:cNvPr id="7" name="Shape 5"/>
          <p:cNvSpPr/>
          <p:nvPr/>
        </p:nvSpPr>
        <p:spPr>
          <a:xfrm>
            <a:off x="7635240" y="3666744"/>
            <a:ext cx="3886200" cy="365760"/>
          </a:xfrm>
          <a:prstGeom prst="roundRect">
            <a:avLst>
              <a:gd name="adj" fmla="val 12500"/>
            </a:avLst>
          </a:prstGeom>
          <a:solidFill>
            <a:srgbClr val="236B85"/>
          </a:solidFill>
          <a:ln w="12700">
            <a:solidFill>
              <a:srgbClr val="236B85"/>
            </a:solidFill>
            <a:prstDash val="solid"/>
          </a:ln>
        </p:spPr>
      </p:sp>
      <p:sp>
        <p:nvSpPr>
          <p:cNvPr id="8" name="Shape 6"/>
          <p:cNvSpPr/>
          <p:nvPr/>
        </p:nvSpPr>
        <p:spPr>
          <a:xfrm>
            <a:off x="7635240" y="4151376"/>
            <a:ext cx="3886200" cy="365760"/>
          </a:xfrm>
          <a:prstGeom prst="roundRect">
            <a:avLst>
              <a:gd name="adj" fmla="val 12500"/>
            </a:avLst>
          </a:prstGeom>
          <a:solidFill>
            <a:srgbClr val="16506A"/>
          </a:solidFill>
          <a:ln w="12700">
            <a:solidFill>
              <a:srgbClr val="16506A"/>
            </a:solidFill>
            <a:prstDash val="solid"/>
          </a:ln>
        </p:spPr>
      </p:sp>
      <p:sp>
        <p:nvSpPr>
          <p:cNvPr id="9" name="Shape 7"/>
          <p:cNvSpPr/>
          <p:nvPr/>
        </p:nvSpPr>
        <p:spPr>
          <a:xfrm>
            <a:off x="7635240" y="4636008"/>
            <a:ext cx="3886200" cy="365760"/>
          </a:xfrm>
          <a:prstGeom prst="roundRect">
            <a:avLst>
              <a:gd name="adj" fmla="val 12500"/>
            </a:avLst>
          </a:prstGeom>
          <a:solidFill>
            <a:srgbClr val="0F3A52"/>
          </a:solidFill>
          <a:ln w="12700">
            <a:solidFill>
              <a:srgbClr val="0F3A52"/>
            </a:solidFill>
            <a:prstDash val="solid"/>
          </a:ln>
        </p:spPr>
      </p:sp>
      <p:sp>
        <p:nvSpPr>
          <p:cNvPr id="10" name="Shape 8"/>
          <p:cNvSpPr/>
          <p:nvPr/>
        </p:nvSpPr>
        <p:spPr>
          <a:xfrm>
            <a:off x="7635240" y="5120640"/>
            <a:ext cx="3886200" cy="365760"/>
          </a:xfrm>
          <a:prstGeom prst="roundRect">
            <a:avLst>
              <a:gd name="adj" fmla="val 12500"/>
            </a:avLst>
          </a:prstGeom>
          <a:solidFill>
            <a:srgbClr val="0A2540"/>
          </a:solidFill>
          <a:ln w="12700">
            <a:solidFill>
              <a:srgbClr val="0A2540"/>
            </a:solidFill>
            <a:prstDash val="solid"/>
          </a:ln>
        </p:spPr>
      </p:sp>
      <p:sp>
        <p:nvSpPr>
          <p:cNvPr id="11" name="Text 9"/>
          <p:cNvSpPr txBox="1"/>
          <p:nvPr/>
        </p:nvSpPr>
        <p:spPr>
          <a:xfrm>
            <a:off x="7635240" y="1243584"/>
            <a:ext cx="3703320" cy="365760"/>
          </a:xfrm>
          <a:prstGeom prst="rect">
            <a:avLst/>
          </a:prstGeom>
          <a:noFill/>
          <a:ln/>
        </p:spPr>
        <p:txBody>
          <a:bodyPr wrap="square" lIns="0" tIns="0" rIns="0" bIns="0" rtlCol="0" anchor="ctr"/>
          <a:lstStyle/>
          <a:p>
            <a:pPr algn="r" indent="0" marL="0">
              <a:buNone/>
            </a:pPr>
            <a:r>
              <a:rPr lang="en-US" sz="950" b="1" dirty="0">
                <a:solidFill>
                  <a:srgbClr val="0A2540"/>
                </a:solidFill>
                <a:latin typeface="Calibri" pitchFamily="34" charset="0"/>
                <a:ea typeface="Calibri" pitchFamily="34" charset="-122"/>
                <a:cs typeface="Calibri" pitchFamily="34" charset="-120"/>
              </a:rPr>
              <a:t>0 m</a:t>
            </a:r>
            <a:endParaRPr lang="en-US" sz="950" dirty="0"/>
          </a:p>
        </p:txBody>
      </p:sp>
      <p:sp>
        <p:nvSpPr>
          <p:cNvPr id="12" name="Text 10"/>
          <p:cNvSpPr txBox="1"/>
          <p:nvPr/>
        </p:nvSpPr>
        <p:spPr>
          <a:xfrm>
            <a:off x="7635240" y="5120640"/>
            <a:ext cx="3703320" cy="365760"/>
          </a:xfrm>
          <a:prstGeom prst="rect">
            <a:avLst/>
          </a:prstGeom>
          <a:noFill/>
          <a:ln/>
        </p:spPr>
        <p:txBody>
          <a:bodyPr wrap="square" lIns="0" tIns="0" rIns="0" bIns="0" rtlCol="0" anchor="ctr"/>
          <a:lstStyle/>
          <a:p>
            <a:pPr algn="r" indent="0" marL="0">
              <a:buNone/>
            </a:pPr>
            <a:r>
              <a:rPr lang="en-US" sz="950" b="1" dirty="0">
                <a:solidFill>
                  <a:srgbClr val="7FC5D8"/>
                </a:solidFill>
                <a:latin typeface="Calibri" pitchFamily="34" charset="0"/>
                <a:ea typeface="Calibri" pitchFamily="34" charset="-122"/>
                <a:cs typeface="Calibri" pitchFamily="34" charset="-120"/>
              </a:rPr>
              <a:t>1000 m</a:t>
            </a:r>
            <a:endParaRPr lang="en-US" sz="950" dirty="0"/>
          </a:p>
        </p:txBody>
      </p:sp>
      <p:sp>
        <p:nvSpPr>
          <p:cNvPr id="13" name="Text 11"/>
          <p:cNvSpPr txBox="1"/>
          <p:nvPr/>
        </p:nvSpPr>
        <p:spPr>
          <a:xfrm>
            <a:off x="822960" y="1243584"/>
            <a:ext cx="6400800" cy="274320"/>
          </a:xfrm>
          <a:prstGeom prst="rect">
            <a:avLst/>
          </a:prstGeom>
          <a:noFill/>
          <a:ln/>
        </p:spPr>
        <p:txBody>
          <a:bodyPr wrap="square" lIns="0" tIns="0" rIns="0" bIns="0" rtlCol="0" anchor="ctr"/>
          <a:lstStyle/>
          <a:p>
            <a:pPr indent="0" marL="0">
              <a:buNone/>
            </a:pPr>
            <a:r>
              <a:rPr lang="en-US" sz="1150" b="1" spc="260" kern="0" dirty="0">
                <a:solidFill>
                  <a:srgbClr val="7FC5D8"/>
                </a:solidFill>
                <a:latin typeface="Calibri" pitchFamily="34" charset="0"/>
                <a:ea typeface="Calibri" pitchFamily="34" charset="-122"/>
                <a:cs typeface="Calibri" pitchFamily="34" charset="-120"/>
              </a:rPr>
              <a:t>SIH26066  ·  SMART INDIA HACKATHON</a:t>
            </a:r>
            <a:endParaRPr lang="en-US" sz="1150" dirty="0"/>
          </a:p>
        </p:txBody>
      </p:sp>
      <p:sp>
        <p:nvSpPr>
          <p:cNvPr id="14" name="Text 12"/>
          <p:cNvSpPr txBox="1"/>
          <p:nvPr/>
        </p:nvSpPr>
        <p:spPr>
          <a:xfrm>
            <a:off x="822960" y="1645920"/>
            <a:ext cx="6400800" cy="105156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OceanEmbed</a:t>
            </a:r>
            <a:endParaRPr lang="en-US" sz="5800" dirty="0"/>
          </a:p>
        </p:txBody>
      </p:sp>
      <p:sp>
        <p:nvSpPr>
          <p:cNvPr id="15" name="Text 13"/>
          <p:cNvSpPr txBox="1"/>
          <p:nvPr/>
        </p:nvSpPr>
        <p:spPr>
          <a:xfrm>
            <a:off x="822960" y="2697480"/>
            <a:ext cx="6583680" cy="457200"/>
          </a:xfrm>
          <a:prstGeom prst="rect">
            <a:avLst/>
          </a:prstGeom>
          <a:noFill/>
          <a:ln/>
        </p:spPr>
        <p:txBody>
          <a:bodyPr wrap="square" lIns="0" tIns="0" rIns="0" bIns="0" rtlCol="0" anchor="ctr"/>
          <a:lstStyle/>
          <a:p>
            <a:pPr indent="0" marL="0">
              <a:buNone/>
            </a:pPr>
            <a:r>
              <a:rPr lang="en-US" sz="2100" dirty="0">
                <a:solidFill>
                  <a:srgbClr val="7FC5D8"/>
                </a:solidFill>
                <a:latin typeface="Cambria" pitchFamily="34" charset="0"/>
                <a:ea typeface="Cambria" pitchFamily="34" charset="-122"/>
                <a:cs typeface="Cambria" pitchFamily="34" charset="-120"/>
              </a:rPr>
              <a:t>Seeing inside the ocean, from the surface</a:t>
            </a:r>
            <a:endParaRPr lang="en-US" sz="2100" dirty="0"/>
          </a:p>
        </p:txBody>
      </p:sp>
      <p:sp>
        <p:nvSpPr>
          <p:cNvPr id="16" name="Text 14"/>
          <p:cNvSpPr txBox="1"/>
          <p:nvPr/>
        </p:nvSpPr>
        <p:spPr>
          <a:xfrm>
            <a:off x="822960" y="3310128"/>
            <a:ext cx="6217920" cy="1005840"/>
          </a:xfrm>
          <a:prstGeom prst="rect">
            <a:avLst/>
          </a:prstGeom>
          <a:noFill/>
          <a:ln/>
        </p:spPr>
        <p:txBody>
          <a:bodyPr wrap="square" lIns="0" tIns="0" rIns="0" bIns="0" rtlCol="0" anchor="ctr"/>
          <a:lstStyle/>
          <a:p>
            <a:pPr indent="0" marL="0">
              <a:lnSpc>
                <a:spcPts val="2200"/>
              </a:lnSpc>
              <a:buNone/>
            </a:pPr>
            <a:r>
              <a:rPr lang="en-US" sz="1500" dirty="0">
                <a:solidFill>
                  <a:srgbClr val="C3D6E1"/>
                </a:solidFill>
                <a:latin typeface="Calibri" pitchFamily="34" charset="0"/>
                <a:ea typeface="Calibri" pitchFamily="34" charset="-122"/>
                <a:cs typeface="Calibri" pitchFamily="34" charset="-120"/>
              </a:rPr>
              <a:t>Daily subsurface temperature for the North Indian Ocean — 15 depths from 0 to 1000 m, with an uncertainty band on every single number.</a:t>
            </a:r>
            <a:endParaRPr lang="en-US" sz="1500" dirty="0"/>
          </a:p>
        </p:txBody>
      </p:sp>
      <p:sp>
        <p:nvSpPr>
          <p:cNvPr id="17" name="Shape 15"/>
          <p:cNvSpPr/>
          <p:nvPr/>
        </p:nvSpPr>
        <p:spPr>
          <a:xfrm>
            <a:off x="822960" y="5138928"/>
            <a:ext cx="1371600" cy="32004"/>
          </a:xfrm>
          <a:prstGeom prst="rect">
            <a:avLst/>
          </a:prstGeom>
          <a:solidFill>
            <a:srgbClr val="F08A24"/>
          </a:solidFill>
          <a:ln w="12700">
            <a:solidFill>
              <a:srgbClr val="F08A24"/>
            </a:solidFill>
            <a:prstDash val="solid"/>
          </a:ln>
        </p:spPr>
      </p:sp>
      <p:sp>
        <p:nvSpPr>
          <p:cNvPr id="18" name="Text 16"/>
          <p:cNvSpPr txBox="1"/>
          <p:nvPr/>
        </p:nvSpPr>
        <p:spPr>
          <a:xfrm>
            <a:off x="822960" y="5321808"/>
            <a:ext cx="6400800" cy="310896"/>
          </a:xfrm>
          <a:prstGeom prst="rect">
            <a:avLst/>
          </a:prstGeom>
          <a:noFill/>
          <a:ln/>
        </p:spPr>
        <p:txBody>
          <a:bodyPr wrap="square" lIns="0" tIns="0" rIns="0" bIns="0" rtlCol="0" anchor="ctr"/>
          <a:lstStyle/>
          <a:p>
            <a:pPr indent="0" marL="0">
              <a:buNone/>
            </a:pPr>
            <a:r>
              <a:rPr lang="en-US" sz="1300" dirty="0">
                <a:solidFill>
                  <a:srgbClr val="9DB7C6"/>
                </a:solidFill>
                <a:latin typeface="Calibri" pitchFamily="34" charset="0"/>
                <a:ea typeface="Calibri" pitchFamily="34" charset="-122"/>
                <a:cs typeface="Calibri" pitchFamily="34" charset="-120"/>
              </a:rPr>
              <a:t>Arjhun  ·  Darshan  ·  Mitun  ·  Niru</a:t>
            </a:r>
            <a:endParaRPr lang="en-US" sz="1300" dirty="0"/>
          </a:p>
        </p:txBody>
      </p:sp>
      <p:sp>
        <p:nvSpPr>
          <p:cNvPr id="19" name="Text 17"/>
          <p:cNvSpPr txBox="1"/>
          <p:nvPr/>
        </p:nvSpPr>
        <p:spPr>
          <a:xfrm>
            <a:off x="822960" y="5632704"/>
            <a:ext cx="6766560" cy="310896"/>
          </a:xfrm>
          <a:prstGeom prst="rect">
            <a:avLst/>
          </a:prstGeom>
          <a:noFill/>
          <a:ln/>
        </p:spPr>
        <p:txBody>
          <a:bodyPr wrap="square" lIns="0" tIns="0" rIns="0" bIns="0" rtlCol="0" anchor="ctr"/>
          <a:lstStyle/>
          <a:p>
            <a:pPr indent="0" marL="0">
              <a:buNone/>
            </a:pPr>
            <a:r>
              <a:rPr lang="en-US" sz="1200" dirty="0">
                <a:solidFill>
                  <a:srgbClr val="7E9AAC"/>
                </a:solidFill>
                <a:latin typeface="Calibri" pitchFamily="34" charset="0"/>
                <a:ea typeface="Calibri" pitchFamily="34" charset="-122"/>
                <a:cs typeface="Calibri" pitchFamily="34" charset="-120"/>
              </a:rPr>
              <a:t>Arabian Sea + Bay of Bengal  ·  5–30°N, 45–105°E  ·  0.25° grid, daily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676656"/>
            <a:ext cx="6400800"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The ocean's blind spot</a:t>
            </a:r>
            <a:endParaRPr lang="en-US" sz="3400" dirty="0"/>
          </a:p>
        </p:txBody>
      </p:sp>
      <p:sp>
        <p:nvSpPr>
          <p:cNvPr id="4" name="Shape 2"/>
          <p:cNvSpPr/>
          <p:nvPr/>
        </p:nvSpPr>
        <p:spPr>
          <a:xfrm>
            <a:off x="640080" y="1856232"/>
            <a:ext cx="402336" cy="402336"/>
          </a:xfrm>
          <a:prstGeom prst="ellipse">
            <a:avLst/>
          </a:prstGeom>
          <a:solidFill>
            <a:srgbClr val="1C7293"/>
          </a:solidFill>
          <a:ln w="12700">
            <a:solidFill>
              <a:srgbClr val="1C7293"/>
            </a:solidFill>
            <a:prstDash val="solid"/>
          </a:ln>
        </p:spPr>
      </p:sp>
      <p:sp>
        <p:nvSpPr>
          <p:cNvPr id="5" name="Text 3"/>
          <p:cNvSpPr txBox="1"/>
          <p:nvPr/>
        </p:nvSpPr>
        <p:spPr>
          <a:xfrm>
            <a:off x="640080" y="18562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261872" y="1828800"/>
            <a:ext cx="4892040" cy="438912"/>
          </a:xfrm>
          <a:prstGeom prst="rect">
            <a:avLst/>
          </a:prstGeom>
          <a:noFill/>
          <a:ln/>
        </p:spPr>
        <p:txBody>
          <a:bodyPr wrap="square" lIns="0" tIns="0" rIns="0" bIns="0" rtlCol="0" anchor="ctr"/>
          <a:lstStyle/>
          <a:p>
            <a:pPr indent="0" marL="0">
              <a:buNone/>
            </a:pPr>
            <a:r>
              <a:rPr lang="en-US" sz="1550" b="1" dirty="0">
                <a:solidFill>
                  <a:srgbClr val="0A2540"/>
                </a:solidFill>
                <a:latin typeface="Calibri" pitchFamily="34" charset="0"/>
                <a:ea typeface="Calibri" pitchFamily="34" charset="-122"/>
                <a:cs typeface="Calibri" pitchFamily="34" charset="-120"/>
              </a:rPr>
              <a:t>Satellites see everything — but only the skin.</a:t>
            </a:r>
            <a:endParaRPr lang="en-US" sz="1550" dirty="0"/>
          </a:p>
        </p:txBody>
      </p:sp>
      <p:sp>
        <p:nvSpPr>
          <p:cNvPr id="7" name="Text 5"/>
          <p:cNvSpPr txBox="1"/>
          <p:nvPr/>
        </p:nvSpPr>
        <p:spPr>
          <a:xfrm>
            <a:off x="1261872" y="2286000"/>
            <a:ext cx="4892040" cy="786384"/>
          </a:xfrm>
          <a:prstGeom prst="rect">
            <a:avLst/>
          </a:prstGeom>
          <a:noFill/>
          <a:ln/>
        </p:spPr>
        <p:txBody>
          <a:bodyPr wrap="square" lIns="0" tIns="0" rIns="0" bIns="0" rtlCol="0" anchor="ctr"/>
          <a:lstStyle/>
          <a:p>
            <a:pPr indent="0" marL="0">
              <a:lnSpc>
                <a:spcPts val="1800"/>
              </a:lnSpc>
              <a:buNone/>
            </a:pPr>
            <a:r>
              <a:rPr lang="en-US" sz="1300" dirty="0">
                <a:solidFill>
                  <a:srgbClr val="5E7A8C"/>
                </a:solidFill>
                <a:latin typeface="Calibri" pitchFamily="34" charset="0"/>
                <a:ea typeface="Calibri" pitchFamily="34" charset="-122"/>
                <a:cs typeface="Calibri" pitchFamily="34" charset="-120"/>
              </a:rPr>
              <a:t>Every day, the whole basin, at the surface. Zero metres deep.</a:t>
            </a:r>
            <a:endParaRPr lang="en-US" sz="1300" dirty="0"/>
          </a:p>
        </p:txBody>
      </p:sp>
      <p:sp>
        <p:nvSpPr>
          <p:cNvPr id="8" name="Shape 6"/>
          <p:cNvSpPr/>
          <p:nvPr/>
        </p:nvSpPr>
        <p:spPr>
          <a:xfrm>
            <a:off x="640080" y="3246120"/>
            <a:ext cx="402336" cy="402336"/>
          </a:xfrm>
          <a:prstGeom prst="ellipse">
            <a:avLst/>
          </a:prstGeom>
          <a:solidFill>
            <a:srgbClr val="1C7293"/>
          </a:solidFill>
          <a:ln w="12700">
            <a:solidFill>
              <a:srgbClr val="1C7293"/>
            </a:solidFill>
            <a:prstDash val="solid"/>
          </a:ln>
        </p:spPr>
      </p:sp>
      <p:sp>
        <p:nvSpPr>
          <p:cNvPr id="9" name="Text 7"/>
          <p:cNvSpPr txBox="1"/>
          <p:nvPr/>
        </p:nvSpPr>
        <p:spPr>
          <a:xfrm>
            <a:off x="640080" y="32461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261872" y="3218688"/>
            <a:ext cx="4892040" cy="438912"/>
          </a:xfrm>
          <a:prstGeom prst="rect">
            <a:avLst/>
          </a:prstGeom>
          <a:noFill/>
          <a:ln/>
        </p:spPr>
        <p:txBody>
          <a:bodyPr wrap="square" lIns="0" tIns="0" rIns="0" bIns="0" rtlCol="0" anchor="ctr"/>
          <a:lstStyle/>
          <a:p>
            <a:pPr indent="0" marL="0">
              <a:buNone/>
            </a:pPr>
            <a:r>
              <a:rPr lang="en-US" sz="1550" b="1" dirty="0">
                <a:solidFill>
                  <a:srgbClr val="0A2540"/>
                </a:solidFill>
                <a:latin typeface="Calibri" pitchFamily="34" charset="0"/>
                <a:ea typeface="Calibri" pitchFamily="34" charset="-122"/>
                <a:cs typeface="Calibri" pitchFamily="34" charset="-120"/>
              </a:rPr>
              <a:t>Floats see deep — but almost nowhere.</a:t>
            </a:r>
            <a:endParaRPr lang="en-US" sz="1550" dirty="0"/>
          </a:p>
        </p:txBody>
      </p:sp>
      <p:sp>
        <p:nvSpPr>
          <p:cNvPr id="11" name="Text 9"/>
          <p:cNvSpPr txBox="1"/>
          <p:nvPr/>
        </p:nvSpPr>
        <p:spPr>
          <a:xfrm>
            <a:off x="1261872" y="3675888"/>
            <a:ext cx="4892040" cy="786384"/>
          </a:xfrm>
          <a:prstGeom prst="rect">
            <a:avLst/>
          </a:prstGeom>
          <a:noFill/>
          <a:ln/>
        </p:spPr>
        <p:txBody>
          <a:bodyPr wrap="square" lIns="0" tIns="0" rIns="0" bIns="0" rtlCol="0" anchor="ctr"/>
          <a:lstStyle/>
          <a:p>
            <a:pPr indent="0" marL="0">
              <a:lnSpc>
                <a:spcPts val="1800"/>
              </a:lnSpc>
              <a:buNone/>
            </a:pPr>
            <a:r>
              <a:rPr lang="en-US" sz="1300" dirty="0">
                <a:solidFill>
                  <a:srgbClr val="5E7A8C"/>
                </a:solidFill>
                <a:latin typeface="Calibri" pitchFamily="34" charset="0"/>
                <a:ea typeface="Calibri" pitchFamily="34" charset="-122"/>
                <a:cs typeface="Calibri" pitchFamily="34" charset="-120"/>
              </a:rPr>
              <a:t>962 Argo profiles across three months, against 24,000 grid cells that need a value every day.</a:t>
            </a:r>
            <a:endParaRPr lang="en-US" sz="1300" dirty="0"/>
          </a:p>
        </p:txBody>
      </p:sp>
      <p:sp>
        <p:nvSpPr>
          <p:cNvPr id="12" name="Shape 10"/>
          <p:cNvSpPr/>
          <p:nvPr/>
        </p:nvSpPr>
        <p:spPr>
          <a:xfrm>
            <a:off x="640080" y="4636008"/>
            <a:ext cx="402336" cy="402336"/>
          </a:xfrm>
          <a:prstGeom prst="ellipse">
            <a:avLst/>
          </a:prstGeom>
          <a:solidFill>
            <a:srgbClr val="1C7293"/>
          </a:solidFill>
          <a:ln w="12700">
            <a:solidFill>
              <a:srgbClr val="1C7293"/>
            </a:solidFill>
            <a:prstDash val="solid"/>
          </a:ln>
        </p:spPr>
      </p:sp>
      <p:sp>
        <p:nvSpPr>
          <p:cNvPr id="13" name="Text 11"/>
          <p:cNvSpPr txBox="1"/>
          <p:nvPr/>
        </p:nvSpPr>
        <p:spPr>
          <a:xfrm>
            <a:off x="640080" y="463600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261872" y="4608576"/>
            <a:ext cx="4892040" cy="438912"/>
          </a:xfrm>
          <a:prstGeom prst="rect">
            <a:avLst/>
          </a:prstGeom>
          <a:noFill/>
          <a:ln/>
        </p:spPr>
        <p:txBody>
          <a:bodyPr wrap="square" lIns="0" tIns="0" rIns="0" bIns="0" rtlCol="0" anchor="ctr"/>
          <a:lstStyle/>
          <a:p>
            <a:pPr indent="0" marL="0">
              <a:buNone/>
            </a:pPr>
            <a:r>
              <a:rPr lang="en-US" sz="1550" b="1" dirty="0">
                <a:solidFill>
                  <a:srgbClr val="0A2540"/>
                </a:solidFill>
                <a:latin typeface="Calibri" pitchFamily="34" charset="0"/>
                <a:ea typeface="Calibri" pitchFamily="34" charset="-122"/>
                <a:cs typeface="Calibri" pitchFamily="34" charset="-120"/>
              </a:rPr>
              <a:t>The heat that matters is in between.</a:t>
            </a:r>
            <a:endParaRPr lang="en-US" sz="1550" dirty="0"/>
          </a:p>
        </p:txBody>
      </p:sp>
      <p:sp>
        <p:nvSpPr>
          <p:cNvPr id="15" name="Text 13"/>
          <p:cNvSpPr txBox="1"/>
          <p:nvPr/>
        </p:nvSpPr>
        <p:spPr>
          <a:xfrm>
            <a:off x="1261872" y="5065776"/>
            <a:ext cx="4892040" cy="786384"/>
          </a:xfrm>
          <a:prstGeom prst="rect">
            <a:avLst/>
          </a:prstGeom>
          <a:noFill/>
          <a:ln/>
        </p:spPr>
        <p:txBody>
          <a:bodyPr wrap="square" lIns="0" tIns="0" rIns="0" bIns="0" rtlCol="0" anchor="ctr"/>
          <a:lstStyle/>
          <a:p>
            <a:pPr indent="0" marL="0">
              <a:lnSpc>
                <a:spcPts val="1800"/>
              </a:lnSpc>
              <a:buNone/>
            </a:pPr>
            <a:r>
              <a:rPr lang="en-US" sz="1300" dirty="0">
                <a:solidFill>
                  <a:srgbClr val="5E7A8C"/>
                </a:solidFill>
                <a:latin typeface="Calibri" pitchFamily="34" charset="0"/>
                <a:ea typeface="Calibri" pitchFamily="34" charset="-122"/>
                <a:cs typeface="Calibri" pitchFamily="34" charset="-120"/>
              </a:rPr>
              <a:t>Cyclone fuel and monsoon memory sit at 50–200 m — exactly the layer with almost no daily observation.</a:t>
            </a:r>
            <a:endParaRPr lang="en-US" sz="1300" dirty="0"/>
          </a:p>
        </p:txBody>
      </p:sp>
      <p:sp>
        <p:nvSpPr>
          <p:cNvPr id="16" name="Text 14"/>
          <p:cNvSpPr txBox="1"/>
          <p:nvPr/>
        </p:nvSpPr>
        <p:spPr>
          <a:xfrm>
            <a:off x="640080" y="5888736"/>
            <a:ext cx="5852160" cy="365760"/>
          </a:xfrm>
          <a:prstGeom prst="rect">
            <a:avLst/>
          </a:prstGeom>
          <a:noFill/>
          <a:ln/>
        </p:spPr>
        <p:txBody>
          <a:bodyPr wrap="square" lIns="0" tIns="0" rIns="0" bIns="0" rtlCol="0" anchor="ctr"/>
          <a:lstStyle/>
          <a:p>
            <a:pPr indent="0" marL="0">
              <a:buNone/>
            </a:pPr>
            <a:r>
              <a:rPr lang="en-US" sz="1600" b="1" i="1" dirty="0">
                <a:solidFill>
                  <a:srgbClr val="F08A24"/>
                </a:solidFill>
                <a:latin typeface="Cambria" pitchFamily="34" charset="0"/>
                <a:ea typeface="Cambria" pitchFamily="34" charset="-122"/>
                <a:cs typeface="Cambria" pitchFamily="34" charset="-120"/>
              </a:rPr>
              <a:t>So: can the surface tell us what is underneath it?</a:t>
            </a:r>
            <a:endParaRPr lang="en-US" sz="1600" dirty="0"/>
          </a:p>
        </p:txBody>
      </p:sp>
      <p:sp>
        <p:nvSpPr>
          <p:cNvPr id="17" name="Shape 15"/>
          <p:cNvSpPr/>
          <p:nvPr/>
        </p:nvSpPr>
        <p:spPr>
          <a:xfrm>
            <a:off x="7818120" y="1847088"/>
            <a:ext cx="2148840" cy="457200"/>
          </a:xfrm>
          <a:prstGeom prst="rect">
            <a:avLst/>
          </a:prstGeom>
          <a:solidFill>
            <a:srgbClr val="A8DCE8"/>
          </a:solidFill>
          <a:ln w="12700">
            <a:solidFill>
              <a:srgbClr val="A8DCE8"/>
            </a:solidFill>
            <a:prstDash val="solid"/>
          </a:ln>
        </p:spPr>
      </p:sp>
      <p:sp>
        <p:nvSpPr>
          <p:cNvPr id="18" name="Shape 16"/>
          <p:cNvSpPr/>
          <p:nvPr/>
        </p:nvSpPr>
        <p:spPr>
          <a:xfrm>
            <a:off x="7818120" y="2304288"/>
            <a:ext cx="2148840" cy="457200"/>
          </a:xfrm>
          <a:prstGeom prst="rect">
            <a:avLst/>
          </a:prstGeom>
          <a:solidFill>
            <a:srgbClr val="8ACBDE"/>
          </a:solidFill>
          <a:ln w="12700">
            <a:solidFill>
              <a:srgbClr val="8ACBDE"/>
            </a:solidFill>
            <a:prstDash val="solid"/>
          </a:ln>
        </p:spPr>
      </p:sp>
      <p:sp>
        <p:nvSpPr>
          <p:cNvPr id="19" name="Shape 17"/>
          <p:cNvSpPr/>
          <p:nvPr/>
        </p:nvSpPr>
        <p:spPr>
          <a:xfrm>
            <a:off x="7818120" y="2761488"/>
            <a:ext cx="2148840" cy="457200"/>
          </a:xfrm>
          <a:prstGeom prst="rect">
            <a:avLst/>
          </a:prstGeom>
          <a:solidFill>
            <a:srgbClr val="6AB6CE"/>
          </a:solidFill>
          <a:ln w="12700">
            <a:solidFill>
              <a:srgbClr val="6AB6CE"/>
            </a:solidFill>
            <a:prstDash val="solid"/>
          </a:ln>
        </p:spPr>
      </p:sp>
      <p:sp>
        <p:nvSpPr>
          <p:cNvPr id="20" name="Shape 18"/>
          <p:cNvSpPr/>
          <p:nvPr/>
        </p:nvSpPr>
        <p:spPr>
          <a:xfrm>
            <a:off x="7818120" y="3218688"/>
            <a:ext cx="2148840" cy="457200"/>
          </a:xfrm>
          <a:prstGeom prst="rect">
            <a:avLst/>
          </a:prstGeom>
          <a:solidFill>
            <a:srgbClr val="4B9FBC"/>
          </a:solidFill>
          <a:ln w="12700">
            <a:solidFill>
              <a:srgbClr val="4B9FBC"/>
            </a:solidFill>
            <a:prstDash val="solid"/>
          </a:ln>
        </p:spPr>
      </p:sp>
      <p:sp>
        <p:nvSpPr>
          <p:cNvPr id="21" name="Shape 19"/>
          <p:cNvSpPr/>
          <p:nvPr/>
        </p:nvSpPr>
        <p:spPr>
          <a:xfrm>
            <a:off x="7818120" y="3675888"/>
            <a:ext cx="2148840" cy="457200"/>
          </a:xfrm>
          <a:prstGeom prst="rect">
            <a:avLst/>
          </a:prstGeom>
          <a:solidFill>
            <a:srgbClr val="33879F"/>
          </a:solidFill>
          <a:ln w="12700">
            <a:solidFill>
              <a:srgbClr val="33879F"/>
            </a:solidFill>
            <a:prstDash val="solid"/>
          </a:ln>
        </p:spPr>
      </p:sp>
      <p:sp>
        <p:nvSpPr>
          <p:cNvPr id="22" name="Shape 20"/>
          <p:cNvSpPr/>
          <p:nvPr/>
        </p:nvSpPr>
        <p:spPr>
          <a:xfrm>
            <a:off x="7818120" y="4133088"/>
            <a:ext cx="2148840" cy="457200"/>
          </a:xfrm>
          <a:prstGeom prst="rect">
            <a:avLst/>
          </a:prstGeom>
          <a:solidFill>
            <a:srgbClr val="236B85"/>
          </a:solidFill>
          <a:ln w="12700">
            <a:solidFill>
              <a:srgbClr val="236B85"/>
            </a:solidFill>
            <a:prstDash val="solid"/>
          </a:ln>
        </p:spPr>
      </p:sp>
      <p:sp>
        <p:nvSpPr>
          <p:cNvPr id="23" name="Shape 21"/>
          <p:cNvSpPr/>
          <p:nvPr/>
        </p:nvSpPr>
        <p:spPr>
          <a:xfrm>
            <a:off x="7818120" y="4590288"/>
            <a:ext cx="2148840" cy="457200"/>
          </a:xfrm>
          <a:prstGeom prst="rect">
            <a:avLst/>
          </a:prstGeom>
          <a:solidFill>
            <a:srgbClr val="16506A"/>
          </a:solidFill>
          <a:ln w="12700">
            <a:solidFill>
              <a:srgbClr val="16506A"/>
            </a:solidFill>
            <a:prstDash val="solid"/>
          </a:ln>
        </p:spPr>
      </p:sp>
      <p:sp>
        <p:nvSpPr>
          <p:cNvPr id="24" name="Shape 22"/>
          <p:cNvSpPr/>
          <p:nvPr/>
        </p:nvSpPr>
        <p:spPr>
          <a:xfrm>
            <a:off x="7818120" y="5047488"/>
            <a:ext cx="2148840" cy="457200"/>
          </a:xfrm>
          <a:prstGeom prst="rect">
            <a:avLst/>
          </a:prstGeom>
          <a:solidFill>
            <a:srgbClr val="0F3A52"/>
          </a:solidFill>
          <a:ln w="12700">
            <a:solidFill>
              <a:srgbClr val="0F3A52"/>
            </a:solidFill>
            <a:prstDash val="solid"/>
          </a:ln>
        </p:spPr>
      </p:sp>
      <p:sp>
        <p:nvSpPr>
          <p:cNvPr id="25" name="Shape 23"/>
          <p:cNvSpPr/>
          <p:nvPr/>
        </p:nvSpPr>
        <p:spPr>
          <a:xfrm>
            <a:off x="7818120" y="5504688"/>
            <a:ext cx="2148840" cy="457200"/>
          </a:xfrm>
          <a:prstGeom prst="rect">
            <a:avLst/>
          </a:prstGeom>
          <a:solidFill>
            <a:srgbClr val="0A2540"/>
          </a:solidFill>
          <a:ln w="12700">
            <a:solidFill>
              <a:srgbClr val="0A2540"/>
            </a:solidFill>
            <a:prstDash val="solid"/>
          </a:ln>
        </p:spPr>
      </p:sp>
      <p:sp>
        <p:nvSpPr>
          <p:cNvPr id="26" name="Shape 24"/>
          <p:cNvSpPr/>
          <p:nvPr/>
        </p:nvSpPr>
        <p:spPr>
          <a:xfrm>
            <a:off x="8737092" y="1298448"/>
            <a:ext cx="310896" cy="310896"/>
          </a:xfrm>
          <a:prstGeom prst="ellipse">
            <a:avLst/>
          </a:prstGeom>
          <a:solidFill>
            <a:srgbClr val="0A2540"/>
          </a:solidFill>
          <a:ln w="12700">
            <a:solidFill>
              <a:srgbClr val="0A2540"/>
            </a:solidFill>
            <a:prstDash val="solid"/>
          </a:ln>
        </p:spPr>
      </p:sp>
      <p:sp>
        <p:nvSpPr>
          <p:cNvPr id="27" name="Text 25"/>
          <p:cNvSpPr txBox="1"/>
          <p:nvPr/>
        </p:nvSpPr>
        <p:spPr>
          <a:xfrm>
            <a:off x="8183880" y="987552"/>
            <a:ext cx="1417320" cy="274320"/>
          </a:xfrm>
          <a:prstGeom prst="rect">
            <a:avLst/>
          </a:prstGeom>
          <a:noFill/>
          <a:ln/>
        </p:spPr>
        <p:txBody>
          <a:bodyPr wrap="square" lIns="0" tIns="0" rIns="0" bIns="0" rtlCol="0" anchor="ctr"/>
          <a:lstStyle/>
          <a:p>
            <a:pPr algn="ctr" indent="0" marL="0">
              <a:buNone/>
            </a:pPr>
            <a:r>
              <a:rPr lang="en-US" sz="1050" b="1" dirty="0">
                <a:solidFill>
                  <a:srgbClr val="0A2540"/>
                </a:solidFill>
                <a:latin typeface="Calibri" pitchFamily="34" charset="0"/>
                <a:ea typeface="Calibri" pitchFamily="34" charset="-122"/>
                <a:cs typeface="Calibri" pitchFamily="34" charset="-120"/>
              </a:rPr>
              <a:t>satellite</a:t>
            </a:r>
            <a:endParaRPr lang="en-US" sz="1050" dirty="0"/>
          </a:p>
        </p:txBody>
      </p:sp>
      <p:sp>
        <p:nvSpPr>
          <p:cNvPr id="28" name="Shape 26"/>
          <p:cNvSpPr/>
          <p:nvPr/>
        </p:nvSpPr>
        <p:spPr>
          <a:xfrm>
            <a:off x="8876081" y="1609344"/>
            <a:ext cx="32004" cy="237744"/>
          </a:xfrm>
          <a:prstGeom prst="rect">
            <a:avLst/>
          </a:prstGeom>
          <a:solidFill>
            <a:srgbClr val="0A2540"/>
          </a:solidFill>
          <a:ln w="12700">
            <a:solidFill>
              <a:srgbClr val="0A2540"/>
            </a:solidFill>
            <a:prstDash val="solid"/>
          </a:ln>
        </p:spPr>
      </p:sp>
      <p:sp>
        <p:nvSpPr>
          <p:cNvPr id="29" name="Text 27"/>
          <p:cNvSpPr txBox="1"/>
          <p:nvPr/>
        </p:nvSpPr>
        <p:spPr>
          <a:xfrm>
            <a:off x="8001000" y="1847088"/>
            <a:ext cx="1783080" cy="457200"/>
          </a:xfrm>
          <a:prstGeom prst="rect">
            <a:avLst/>
          </a:prstGeom>
          <a:noFill/>
          <a:ln/>
        </p:spPr>
        <p:txBody>
          <a:bodyPr wrap="square" lIns="0" tIns="0" rIns="0" bIns="0" rtlCol="0" anchor="ctr"/>
          <a:lstStyle/>
          <a:p>
            <a:pPr algn="r" indent="0" marL="0">
              <a:buNone/>
            </a:pPr>
            <a:r>
              <a:rPr lang="en-US" sz="1000" i="1" dirty="0">
                <a:solidFill>
                  <a:srgbClr val="0A2540"/>
                </a:solidFill>
                <a:latin typeface="Calibri" pitchFamily="34" charset="0"/>
                <a:ea typeface="Calibri" pitchFamily="34" charset="-122"/>
                <a:cs typeface="Calibri" pitchFamily="34" charset="-120"/>
              </a:rPr>
              <a:t>sees only this</a:t>
            </a:r>
            <a:endParaRPr lang="en-US" sz="1000" dirty="0"/>
          </a:p>
        </p:txBody>
      </p:sp>
      <p:sp>
        <p:nvSpPr>
          <p:cNvPr id="30" name="Shape 28"/>
          <p:cNvSpPr/>
          <p:nvPr/>
        </p:nvSpPr>
        <p:spPr>
          <a:xfrm>
            <a:off x="8275320" y="3017520"/>
            <a:ext cx="146304" cy="146304"/>
          </a:xfrm>
          <a:prstGeom prst="ellipse">
            <a:avLst/>
          </a:prstGeom>
          <a:solidFill>
            <a:srgbClr val="F08A24"/>
          </a:solidFill>
          <a:ln w="12700">
            <a:solidFill>
              <a:srgbClr val="F08A24"/>
            </a:solidFill>
            <a:prstDash val="solid"/>
          </a:ln>
        </p:spPr>
      </p:sp>
      <p:sp>
        <p:nvSpPr>
          <p:cNvPr id="31" name="Shape 29"/>
          <p:cNvSpPr/>
          <p:nvPr/>
        </p:nvSpPr>
        <p:spPr>
          <a:xfrm>
            <a:off x="9281160" y="4206240"/>
            <a:ext cx="146304" cy="146304"/>
          </a:xfrm>
          <a:prstGeom prst="ellipse">
            <a:avLst/>
          </a:prstGeom>
          <a:solidFill>
            <a:srgbClr val="F08A24"/>
          </a:solidFill>
          <a:ln w="12700">
            <a:solidFill>
              <a:srgbClr val="F08A24"/>
            </a:solidFill>
            <a:prstDash val="solid"/>
          </a:ln>
        </p:spPr>
      </p:sp>
      <p:sp>
        <p:nvSpPr>
          <p:cNvPr id="32" name="Shape 30"/>
          <p:cNvSpPr/>
          <p:nvPr/>
        </p:nvSpPr>
        <p:spPr>
          <a:xfrm>
            <a:off x="8732520" y="5349240"/>
            <a:ext cx="146304" cy="146304"/>
          </a:xfrm>
          <a:prstGeom prst="ellipse">
            <a:avLst/>
          </a:prstGeom>
          <a:solidFill>
            <a:srgbClr val="F08A24"/>
          </a:solidFill>
          <a:ln w="12700">
            <a:solidFill>
              <a:srgbClr val="F08A24"/>
            </a:solidFill>
            <a:prstDash val="solid"/>
          </a:ln>
        </p:spPr>
      </p:sp>
      <p:sp>
        <p:nvSpPr>
          <p:cNvPr id="33" name="Text 31"/>
          <p:cNvSpPr txBox="1"/>
          <p:nvPr/>
        </p:nvSpPr>
        <p:spPr>
          <a:xfrm>
            <a:off x="8001000" y="4626864"/>
            <a:ext cx="1783080" cy="274320"/>
          </a:xfrm>
          <a:prstGeom prst="rect">
            <a:avLst/>
          </a:prstGeom>
          <a:noFill/>
          <a:ln/>
        </p:spPr>
        <p:txBody>
          <a:bodyPr wrap="square" lIns="0" tIns="0" rIns="0" bIns="0" rtlCol="0" anchor="ctr"/>
          <a:lstStyle/>
          <a:p>
            <a:pPr algn="r" indent="0" marL="0">
              <a:buNone/>
            </a:pPr>
            <a:r>
              <a:rPr lang="en-US" sz="1000" i="1" dirty="0">
                <a:solidFill>
                  <a:srgbClr val="7FC5D8"/>
                </a:solidFill>
                <a:latin typeface="Calibri" pitchFamily="34" charset="0"/>
                <a:ea typeface="Calibri" pitchFamily="34" charset="-122"/>
                <a:cs typeface="Calibri" pitchFamily="34" charset="-120"/>
              </a:rPr>
              <a:t>a few floats</a:t>
            </a:r>
            <a:endParaRPr lang="en-US" sz="1000" dirty="0"/>
          </a:p>
        </p:txBody>
      </p:sp>
      <p:sp>
        <p:nvSpPr>
          <p:cNvPr id="34" name="Text 32"/>
          <p:cNvSpPr txBox="1"/>
          <p:nvPr/>
        </p:nvSpPr>
        <p:spPr>
          <a:xfrm>
            <a:off x="10076688" y="1828800"/>
            <a:ext cx="914400" cy="274320"/>
          </a:xfrm>
          <a:prstGeom prst="rect">
            <a:avLst/>
          </a:prstGeom>
          <a:noFill/>
          <a:ln/>
        </p:spPr>
        <p:txBody>
          <a:bodyPr wrap="square" lIns="0" tIns="0" rIns="0" bIns="0" rtlCol="0" anchor="ctr"/>
          <a:lstStyle/>
          <a:p>
            <a:pPr indent="0" marL="0">
              <a:buNone/>
            </a:pPr>
            <a:r>
              <a:rPr lang="en-US" sz="1000" dirty="0">
                <a:solidFill>
                  <a:srgbClr val="5E7A8C"/>
                </a:solidFill>
                <a:latin typeface="Calibri" pitchFamily="34" charset="0"/>
                <a:ea typeface="Calibri" pitchFamily="34" charset="-122"/>
                <a:cs typeface="Calibri" pitchFamily="34" charset="-120"/>
              </a:rPr>
              <a:t>0 m</a:t>
            </a:r>
            <a:endParaRPr lang="en-US" sz="1000" dirty="0"/>
          </a:p>
        </p:txBody>
      </p:sp>
      <p:sp>
        <p:nvSpPr>
          <p:cNvPr id="35" name="Text 33"/>
          <p:cNvSpPr txBox="1"/>
          <p:nvPr/>
        </p:nvSpPr>
        <p:spPr>
          <a:xfrm>
            <a:off x="10076688" y="2761488"/>
            <a:ext cx="914400" cy="274320"/>
          </a:xfrm>
          <a:prstGeom prst="rect">
            <a:avLst/>
          </a:prstGeom>
          <a:noFill/>
          <a:ln/>
        </p:spPr>
        <p:txBody>
          <a:bodyPr wrap="square" lIns="0" tIns="0" rIns="0" bIns="0" rtlCol="0" anchor="ctr"/>
          <a:lstStyle/>
          <a:p>
            <a:pPr indent="0" marL="0">
              <a:buNone/>
            </a:pPr>
            <a:r>
              <a:rPr lang="en-US" sz="1000" dirty="0">
                <a:solidFill>
                  <a:srgbClr val="5E7A8C"/>
                </a:solidFill>
                <a:latin typeface="Calibri" pitchFamily="34" charset="0"/>
                <a:ea typeface="Calibri" pitchFamily="34" charset="-122"/>
                <a:cs typeface="Calibri" pitchFamily="34" charset="-120"/>
              </a:rPr>
              <a:t>100 m</a:t>
            </a:r>
            <a:endParaRPr lang="en-US" sz="1000" dirty="0"/>
          </a:p>
        </p:txBody>
      </p:sp>
      <p:sp>
        <p:nvSpPr>
          <p:cNvPr id="36" name="Text 34"/>
          <p:cNvSpPr txBox="1"/>
          <p:nvPr/>
        </p:nvSpPr>
        <p:spPr>
          <a:xfrm>
            <a:off x="10076688" y="3895344"/>
            <a:ext cx="914400" cy="274320"/>
          </a:xfrm>
          <a:prstGeom prst="rect">
            <a:avLst/>
          </a:prstGeom>
          <a:noFill/>
          <a:ln/>
        </p:spPr>
        <p:txBody>
          <a:bodyPr wrap="square" lIns="0" tIns="0" rIns="0" bIns="0" rtlCol="0" anchor="ctr"/>
          <a:lstStyle/>
          <a:p>
            <a:pPr indent="0" marL="0">
              <a:buNone/>
            </a:pPr>
            <a:r>
              <a:rPr lang="en-US" sz="1000" dirty="0">
                <a:solidFill>
                  <a:srgbClr val="5E7A8C"/>
                </a:solidFill>
                <a:latin typeface="Calibri" pitchFamily="34" charset="0"/>
                <a:ea typeface="Calibri" pitchFamily="34" charset="-122"/>
                <a:cs typeface="Calibri" pitchFamily="34" charset="-120"/>
              </a:rPr>
              <a:t>300 m</a:t>
            </a:r>
            <a:endParaRPr lang="en-US" sz="1000" dirty="0"/>
          </a:p>
        </p:txBody>
      </p:sp>
      <p:sp>
        <p:nvSpPr>
          <p:cNvPr id="37" name="Text 35"/>
          <p:cNvSpPr txBox="1"/>
          <p:nvPr/>
        </p:nvSpPr>
        <p:spPr>
          <a:xfrm>
            <a:off x="10076688" y="5687568"/>
            <a:ext cx="914400" cy="274320"/>
          </a:xfrm>
          <a:prstGeom prst="rect">
            <a:avLst/>
          </a:prstGeom>
          <a:noFill/>
          <a:ln/>
        </p:spPr>
        <p:txBody>
          <a:bodyPr wrap="square" lIns="0" tIns="0" rIns="0" bIns="0" rtlCol="0" anchor="ctr"/>
          <a:lstStyle/>
          <a:p>
            <a:pPr indent="0" marL="0">
              <a:buNone/>
            </a:pPr>
            <a:r>
              <a:rPr lang="en-US" sz="1000" dirty="0">
                <a:solidFill>
                  <a:srgbClr val="5E7A8C"/>
                </a:solidFill>
                <a:latin typeface="Calibri" pitchFamily="34" charset="0"/>
                <a:ea typeface="Calibri" pitchFamily="34" charset="-122"/>
                <a:cs typeface="Calibri" pitchFamily="34" charset="-120"/>
              </a:rPr>
              <a:t>1000 m</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THE IDEA</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What we built</a:t>
            </a:r>
            <a:endParaRPr lang="en-US" sz="3400" dirty="0"/>
          </a:p>
        </p:txBody>
      </p:sp>
      <p:sp>
        <p:nvSpPr>
          <p:cNvPr id="4" name="Text 2"/>
          <p:cNvSpPr txBox="1"/>
          <p:nvPr/>
        </p:nvSpPr>
        <p:spPr>
          <a:xfrm>
            <a:off x="640080" y="1417320"/>
            <a:ext cx="10241280" cy="365760"/>
          </a:xfrm>
          <a:prstGeom prst="rect">
            <a:avLst/>
          </a:prstGeom>
          <a:noFill/>
          <a:ln/>
        </p:spPr>
        <p:txBody>
          <a:bodyPr wrap="square" lIns="0" tIns="0" rIns="0" bIns="0" rtlCol="0" anchor="ctr"/>
          <a:lstStyle/>
          <a:p>
            <a:pPr indent="0" marL="0">
              <a:buNone/>
            </a:pPr>
            <a:r>
              <a:rPr lang="en-US" sz="1550" dirty="0">
                <a:solidFill>
                  <a:srgbClr val="5E7A8C"/>
                </a:solidFill>
                <a:latin typeface="Calibri" pitchFamily="34" charset="0"/>
                <a:ea typeface="Calibri" pitchFamily="34" charset="-122"/>
                <a:cs typeface="Calibri" pitchFamily="34" charset="-120"/>
              </a:rPr>
              <a:t>One model that turns daily surface maps into a full temperature profile — everywhere, every day.</a:t>
            </a:r>
            <a:endParaRPr lang="en-US" sz="1550" dirty="0"/>
          </a:p>
        </p:txBody>
      </p:sp>
      <p:sp>
        <p:nvSpPr>
          <p:cNvPr id="5" name="Shape 3"/>
          <p:cNvSpPr/>
          <p:nvPr/>
        </p:nvSpPr>
        <p:spPr>
          <a:xfrm>
            <a:off x="640080" y="2084832"/>
            <a:ext cx="3200400" cy="3127248"/>
          </a:xfrm>
          <a:prstGeom prst="roundRect">
            <a:avLst>
              <a:gd name="adj" fmla="val 263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6" name="Text 4"/>
          <p:cNvSpPr txBox="1"/>
          <p:nvPr/>
        </p:nvSpPr>
        <p:spPr>
          <a:xfrm>
            <a:off x="932688" y="2359152"/>
            <a:ext cx="2615184" cy="237744"/>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INPUT</a:t>
            </a:r>
            <a:endParaRPr lang="en-US" sz="1050" dirty="0"/>
          </a:p>
        </p:txBody>
      </p:sp>
      <p:sp>
        <p:nvSpPr>
          <p:cNvPr id="7" name="Text 5"/>
          <p:cNvSpPr txBox="1"/>
          <p:nvPr/>
        </p:nvSpPr>
        <p:spPr>
          <a:xfrm>
            <a:off x="932688" y="2633472"/>
            <a:ext cx="2615184" cy="566928"/>
          </a:xfrm>
          <a:prstGeom prst="rect">
            <a:avLst/>
          </a:prstGeom>
          <a:noFill/>
          <a:ln/>
        </p:spPr>
        <p:txBody>
          <a:bodyPr wrap="square" lIns="0" tIns="0" rIns="0" bIns="0" rtlCol="0" anchor="ctr"/>
          <a:lstStyle/>
          <a:p>
            <a:pPr indent="0" marL="0">
              <a:buNone/>
            </a:pPr>
            <a:r>
              <a:rPr lang="en-US" sz="1800" b="1" dirty="0">
                <a:solidFill>
                  <a:srgbClr val="0A2540"/>
                </a:solidFill>
                <a:latin typeface="Cambria" pitchFamily="34" charset="0"/>
                <a:ea typeface="Cambria" pitchFamily="34" charset="-122"/>
                <a:cs typeface="Cambria" pitchFamily="34" charset="-120"/>
              </a:rPr>
              <a:t>7 daily surface maps</a:t>
            </a:r>
            <a:endParaRPr lang="en-US" sz="1800" dirty="0"/>
          </a:p>
        </p:txBody>
      </p:sp>
      <p:sp>
        <p:nvSpPr>
          <p:cNvPr id="8" name="Text 6"/>
          <p:cNvSpPr txBox="1"/>
          <p:nvPr/>
        </p:nvSpPr>
        <p:spPr>
          <a:xfrm>
            <a:off x="932688" y="3310128"/>
            <a:ext cx="2651760" cy="169164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Sea surface temperature</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Sea surface salinity</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Sea surface height</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Surface currents (u, v)</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Surface winds (u, v)</a:t>
            </a:r>
            <a:endParaRPr lang="en-US" sz="1250" dirty="0"/>
          </a:p>
        </p:txBody>
      </p:sp>
      <p:sp>
        <p:nvSpPr>
          <p:cNvPr id="9" name="Shape 7"/>
          <p:cNvSpPr/>
          <p:nvPr/>
        </p:nvSpPr>
        <p:spPr>
          <a:xfrm>
            <a:off x="4480560" y="2084832"/>
            <a:ext cx="3200400" cy="3127248"/>
          </a:xfrm>
          <a:prstGeom prst="roundRect">
            <a:avLst>
              <a:gd name="adj" fmla="val 2632"/>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10" name="Text 8"/>
          <p:cNvSpPr txBox="1"/>
          <p:nvPr/>
        </p:nvSpPr>
        <p:spPr>
          <a:xfrm>
            <a:off x="4773168" y="2359152"/>
            <a:ext cx="2615184" cy="237744"/>
          </a:xfrm>
          <a:prstGeom prst="rect">
            <a:avLst/>
          </a:prstGeom>
          <a:noFill/>
          <a:ln/>
        </p:spPr>
        <p:txBody>
          <a:bodyPr wrap="square" lIns="0" tIns="0" rIns="0" bIns="0" rtlCol="0" anchor="ctr"/>
          <a:lstStyle/>
          <a:p>
            <a:pPr indent="0" marL="0">
              <a:buNone/>
            </a:pPr>
            <a:r>
              <a:rPr lang="en-US" sz="1050" b="1" spc="200" kern="0" dirty="0">
                <a:solidFill>
                  <a:srgbClr val="7FC5D8"/>
                </a:solidFill>
                <a:latin typeface="Calibri" pitchFamily="34" charset="0"/>
                <a:ea typeface="Calibri" pitchFamily="34" charset="-122"/>
                <a:cs typeface="Calibri" pitchFamily="34" charset="-120"/>
              </a:rPr>
              <a:t>MODEL</a:t>
            </a:r>
            <a:endParaRPr lang="en-US" sz="1050" dirty="0"/>
          </a:p>
        </p:txBody>
      </p:sp>
      <p:sp>
        <p:nvSpPr>
          <p:cNvPr id="11" name="Text 9"/>
          <p:cNvSpPr txBox="1"/>
          <p:nvPr/>
        </p:nvSpPr>
        <p:spPr>
          <a:xfrm>
            <a:off x="4773168" y="2633472"/>
            <a:ext cx="2615184" cy="56692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Compress, then expand</a:t>
            </a:r>
            <a:endParaRPr lang="en-US" sz="1800" dirty="0"/>
          </a:p>
        </p:txBody>
      </p:sp>
      <p:sp>
        <p:nvSpPr>
          <p:cNvPr id="12" name="Text 10"/>
          <p:cNvSpPr txBox="1"/>
          <p:nvPr/>
        </p:nvSpPr>
        <p:spPr>
          <a:xfrm>
            <a:off x="4773168" y="3310128"/>
            <a:ext cx="2651760" cy="169164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C3D6E1"/>
                </a:solidFill>
                <a:latin typeface="Calibri" pitchFamily="34" charset="0"/>
                <a:ea typeface="Calibri" pitchFamily="34" charset="-122"/>
                <a:cs typeface="Calibri" pitchFamily="34" charset="-120"/>
              </a:rPr>
              <a:t>An 11-day window of surface maps</a:t>
            </a:r>
            <a:endParaRPr lang="en-US" sz="1250" dirty="0"/>
          </a:p>
          <a:p>
            <a:pPr marL="342900" indent="-342900">
              <a:spcAft>
                <a:spcPts val="700"/>
              </a:spcAft>
              <a:buSzPct val="100000"/>
              <a:buChar char="•"/>
            </a:pPr>
            <a:r>
              <a:rPr lang="en-US" sz="1250" dirty="0">
                <a:solidFill>
                  <a:srgbClr val="C3D6E1"/>
                </a:solidFill>
                <a:latin typeface="Calibri" pitchFamily="34" charset="0"/>
                <a:ea typeface="Calibri" pitchFamily="34" charset="-122"/>
                <a:cs typeface="Calibri" pitchFamily="34" charset="-120"/>
              </a:rPr>
              <a:t>A 3D CNN squeezes it to 128 numbers</a:t>
            </a:r>
            <a:endParaRPr lang="en-US" sz="1250" dirty="0"/>
          </a:p>
          <a:p>
            <a:pPr marL="342900" indent="-342900">
              <a:spcAft>
                <a:spcPts val="700"/>
              </a:spcAft>
              <a:buSzPct val="100000"/>
              <a:buChar char="•"/>
            </a:pPr>
            <a:r>
              <a:rPr lang="en-US" sz="1250" dirty="0">
                <a:solidFill>
                  <a:srgbClr val="C3D6E1"/>
                </a:solidFill>
                <a:latin typeface="Calibri" pitchFamily="34" charset="0"/>
                <a:ea typeface="Calibri" pitchFamily="34" charset="-122"/>
                <a:cs typeface="Calibri" pitchFamily="34" charset="-120"/>
              </a:rPr>
              <a:t>A decoder opens that into depth</a:t>
            </a:r>
            <a:endParaRPr lang="en-US" sz="1250" dirty="0"/>
          </a:p>
          <a:p>
            <a:pPr marL="342900" indent="-342900">
              <a:spcAft>
                <a:spcPts val="700"/>
              </a:spcAft>
              <a:buSzPct val="100000"/>
              <a:buChar char="•"/>
            </a:pPr>
            <a:r>
              <a:rPr lang="en-US" sz="1250" dirty="0">
                <a:solidFill>
                  <a:srgbClr val="C3D6E1"/>
                </a:solidFill>
                <a:latin typeface="Calibri" pitchFamily="34" charset="0"/>
                <a:ea typeface="Calibri" pitchFamily="34" charset="-122"/>
                <a:cs typeface="Calibri" pitchFamily="34" charset="-120"/>
              </a:rPr>
              <a:t>549,000 parameters — small on purpose</a:t>
            </a:r>
            <a:endParaRPr lang="en-US" sz="1250" dirty="0"/>
          </a:p>
        </p:txBody>
      </p:sp>
      <p:sp>
        <p:nvSpPr>
          <p:cNvPr id="13" name="Shape 11"/>
          <p:cNvSpPr/>
          <p:nvPr/>
        </p:nvSpPr>
        <p:spPr>
          <a:xfrm>
            <a:off x="8321040" y="2084832"/>
            <a:ext cx="3200400" cy="3127248"/>
          </a:xfrm>
          <a:prstGeom prst="roundRect">
            <a:avLst>
              <a:gd name="adj" fmla="val 263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4" name="Text 12"/>
          <p:cNvSpPr txBox="1"/>
          <p:nvPr/>
        </p:nvSpPr>
        <p:spPr>
          <a:xfrm>
            <a:off x="8613648" y="2359152"/>
            <a:ext cx="2615184" cy="237744"/>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OUTPUT</a:t>
            </a:r>
            <a:endParaRPr lang="en-US" sz="1050" dirty="0"/>
          </a:p>
        </p:txBody>
      </p:sp>
      <p:sp>
        <p:nvSpPr>
          <p:cNvPr id="15" name="Text 13"/>
          <p:cNvSpPr txBox="1"/>
          <p:nvPr/>
        </p:nvSpPr>
        <p:spPr>
          <a:xfrm>
            <a:off x="8613648" y="2633472"/>
            <a:ext cx="2615184" cy="566928"/>
          </a:xfrm>
          <a:prstGeom prst="rect">
            <a:avLst/>
          </a:prstGeom>
          <a:noFill/>
          <a:ln/>
        </p:spPr>
        <p:txBody>
          <a:bodyPr wrap="square" lIns="0" tIns="0" rIns="0" bIns="0" rtlCol="0" anchor="ctr"/>
          <a:lstStyle/>
          <a:p>
            <a:pPr indent="0" marL="0">
              <a:buNone/>
            </a:pPr>
            <a:r>
              <a:rPr lang="en-US" sz="1800" b="1" dirty="0">
                <a:solidFill>
                  <a:srgbClr val="0A2540"/>
                </a:solidFill>
                <a:latin typeface="Cambria" pitchFamily="34" charset="0"/>
                <a:ea typeface="Cambria" pitchFamily="34" charset="-122"/>
                <a:cs typeface="Cambria" pitchFamily="34" charset="-120"/>
              </a:rPr>
              <a:t>15 depths, 0–1000 m</a:t>
            </a:r>
            <a:endParaRPr lang="en-US" sz="1800" dirty="0"/>
          </a:p>
        </p:txBody>
      </p:sp>
      <p:sp>
        <p:nvSpPr>
          <p:cNvPr id="16" name="Text 14"/>
          <p:cNvSpPr txBox="1"/>
          <p:nvPr/>
        </p:nvSpPr>
        <p:spPr>
          <a:xfrm>
            <a:off x="8613648" y="3310128"/>
            <a:ext cx="2651760" cy="169164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Temperature at every depth</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An uncertainty band with each one</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0.25° grid, 100 × 240 cells</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A new field every day</a:t>
            </a:r>
            <a:endParaRPr lang="en-US" sz="1250" dirty="0"/>
          </a:p>
        </p:txBody>
      </p:sp>
      <p:sp>
        <p:nvSpPr>
          <p:cNvPr id="17" name="Shape 15"/>
          <p:cNvSpPr/>
          <p:nvPr/>
        </p:nvSpPr>
        <p:spPr>
          <a:xfrm>
            <a:off x="3913632" y="3474720"/>
            <a:ext cx="493776" cy="347472"/>
          </a:xfrm>
          <a:prstGeom prst="rightArrow">
            <a:avLst/>
          </a:prstGeom>
          <a:solidFill>
            <a:srgbClr val="F08A24"/>
          </a:solidFill>
          <a:ln w="12700">
            <a:solidFill>
              <a:srgbClr val="F08A24"/>
            </a:solidFill>
            <a:prstDash val="solid"/>
          </a:ln>
        </p:spPr>
      </p:sp>
      <p:sp>
        <p:nvSpPr>
          <p:cNvPr id="18" name="Shape 16"/>
          <p:cNvSpPr/>
          <p:nvPr/>
        </p:nvSpPr>
        <p:spPr>
          <a:xfrm>
            <a:off x="7754112" y="3474720"/>
            <a:ext cx="493776" cy="347472"/>
          </a:xfrm>
          <a:prstGeom prst="rightArrow">
            <a:avLst/>
          </a:prstGeom>
          <a:solidFill>
            <a:srgbClr val="F08A24"/>
          </a:solidFill>
          <a:ln w="12700">
            <a:solidFill>
              <a:srgbClr val="F08A24"/>
            </a:solidFill>
            <a:prstDash val="solid"/>
          </a:ln>
        </p:spPr>
      </p:sp>
      <p:sp>
        <p:nvSpPr>
          <p:cNvPr id="19" name="Shape 17"/>
          <p:cNvSpPr/>
          <p:nvPr/>
        </p:nvSpPr>
        <p:spPr>
          <a:xfrm>
            <a:off x="640080" y="5504688"/>
            <a:ext cx="10911535" cy="786384"/>
          </a:xfrm>
          <a:prstGeom prst="roundRect">
            <a:avLst>
              <a:gd name="adj" fmla="val 10465"/>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0" name="Text 18"/>
          <p:cNvSpPr txBox="1"/>
          <p:nvPr/>
        </p:nvSpPr>
        <p:spPr>
          <a:xfrm>
            <a:off x="914400" y="5632704"/>
            <a:ext cx="10362895" cy="530352"/>
          </a:xfrm>
          <a:prstGeom prst="rect">
            <a:avLst/>
          </a:prstGeom>
          <a:noFill/>
          <a:ln/>
        </p:spPr>
        <p:txBody>
          <a:bodyPr wrap="square" lIns="0" tIns="0" rIns="0" bIns="0" rtlCol="0" anchor="ctr"/>
          <a:lstStyle/>
          <a:p>
            <a:pPr indent="0" marL="0">
              <a:buNone/>
            </a:pPr>
            <a:r>
              <a:rPr lang="en-US" sz="1250" b="1" dirty="0">
                <a:solidFill>
                  <a:srgbClr val="0A2540"/>
                </a:solidFill>
                <a:latin typeface="Calibri" pitchFamily="34" charset="0"/>
                <a:ea typeface="Calibri" pitchFamily="34" charset="-122"/>
                <a:cs typeface="Calibri" pitchFamily="34" charset="-120"/>
              </a:rPr>
              <a:t>Honest note: </a:t>
            </a:r>
            <a:pPr indent="0" marL="0">
              <a:buNone/>
            </a:pPr>
            <a:r>
              <a:rPr lang="en-US" sz="1250" dirty="0">
                <a:solidFill>
                  <a:srgbClr val="5E7A8C"/>
                </a:solidFill>
                <a:latin typeface="Calibri" pitchFamily="34" charset="0"/>
                <a:ea typeface="Calibri" pitchFamily="34" charset="-122"/>
                <a:cs typeface="Calibri" pitchFamily="34" charset="-120"/>
              </a:rPr>
              <a:t>the shipped model runs on satellite-only inputs (OSTIA SST, DUACS altimetry, SMOS-blended SSS, GLOBCURRENT currents, observational wind), frozen 4 Sep 2026. The reanalysis-input model is kept as a comparator.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What it runs on</a:t>
            </a:r>
            <a:endParaRPr lang="en-US" sz="3400" dirty="0"/>
          </a:p>
        </p:txBody>
      </p:sp>
      <p:sp>
        <p:nvSpPr>
          <p:cNvPr id="4" name="Shape 2"/>
          <p:cNvSpPr/>
          <p:nvPr/>
        </p:nvSpPr>
        <p:spPr>
          <a:xfrm>
            <a:off x="640080" y="1700784"/>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5" name="Text 3"/>
          <p:cNvSpPr txBox="1"/>
          <p:nvPr/>
        </p:nvSpPr>
        <p:spPr>
          <a:xfrm>
            <a:off x="896112" y="1865376"/>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388</a:t>
            </a:r>
            <a:endParaRPr lang="en-US" sz="3800" dirty="0"/>
          </a:p>
        </p:txBody>
      </p:sp>
      <p:sp>
        <p:nvSpPr>
          <p:cNvPr id="6" name="Text 4"/>
          <p:cNvSpPr txBox="1"/>
          <p:nvPr/>
        </p:nvSpPr>
        <p:spPr>
          <a:xfrm>
            <a:off x="896112" y="2560320"/>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consecutive days, gap-free</a:t>
            </a:r>
            <a:endParaRPr lang="en-US" sz="1350" dirty="0"/>
          </a:p>
        </p:txBody>
      </p:sp>
      <p:sp>
        <p:nvSpPr>
          <p:cNvPr id="7" name="Text 5"/>
          <p:cNvSpPr txBox="1"/>
          <p:nvPr/>
        </p:nvSpPr>
        <p:spPr>
          <a:xfrm>
            <a:off x="896112" y="2834640"/>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1 Jun 2025 → 23 Jun 2026</a:t>
            </a:r>
            <a:endParaRPr lang="en-US" sz="1150" dirty="0"/>
          </a:p>
        </p:txBody>
      </p:sp>
      <p:sp>
        <p:nvSpPr>
          <p:cNvPr id="8" name="Shape 6"/>
          <p:cNvSpPr/>
          <p:nvPr/>
        </p:nvSpPr>
        <p:spPr>
          <a:xfrm>
            <a:off x="4407408" y="1700784"/>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9" name="Text 7"/>
          <p:cNvSpPr txBox="1"/>
          <p:nvPr/>
        </p:nvSpPr>
        <p:spPr>
          <a:xfrm>
            <a:off x="4663440" y="1865376"/>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0.25°</a:t>
            </a:r>
            <a:endParaRPr lang="en-US" sz="3800" dirty="0"/>
          </a:p>
        </p:txBody>
      </p:sp>
      <p:sp>
        <p:nvSpPr>
          <p:cNvPr id="10" name="Text 8"/>
          <p:cNvSpPr txBox="1"/>
          <p:nvPr/>
        </p:nvSpPr>
        <p:spPr>
          <a:xfrm>
            <a:off x="4663440" y="2560320"/>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grid spacing</a:t>
            </a:r>
            <a:endParaRPr lang="en-US" sz="1350" dirty="0"/>
          </a:p>
        </p:txBody>
      </p:sp>
      <p:sp>
        <p:nvSpPr>
          <p:cNvPr id="11" name="Text 9"/>
          <p:cNvSpPr txBox="1"/>
          <p:nvPr/>
        </p:nvSpPr>
        <p:spPr>
          <a:xfrm>
            <a:off x="4663440" y="2834640"/>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100 × 240 cells over the basin</a:t>
            </a:r>
            <a:endParaRPr lang="en-US" sz="1150" dirty="0"/>
          </a:p>
        </p:txBody>
      </p:sp>
      <p:sp>
        <p:nvSpPr>
          <p:cNvPr id="12" name="Shape 10"/>
          <p:cNvSpPr/>
          <p:nvPr/>
        </p:nvSpPr>
        <p:spPr>
          <a:xfrm>
            <a:off x="8174736" y="1700784"/>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3" name="Text 11"/>
          <p:cNvSpPr txBox="1"/>
          <p:nvPr/>
        </p:nvSpPr>
        <p:spPr>
          <a:xfrm>
            <a:off x="8430768" y="1865376"/>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7</a:t>
            </a:r>
            <a:endParaRPr lang="en-US" sz="3800" dirty="0"/>
          </a:p>
        </p:txBody>
      </p:sp>
      <p:sp>
        <p:nvSpPr>
          <p:cNvPr id="14" name="Text 12"/>
          <p:cNvSpPr txBox="1"/>
          <p:nvPr/>
        </p:nvSpPr>
        <p:spPr>
          <a:xfrm>
            <a:off x="8430768" y="2560320"/>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surface input channels</a:t>
            </a:r>
            <a:endParaRPr lang="en-US" sz="1350" dirty="0"/>
          </a:p>
        </p:txBody>
      </p:sp>
      <p:sp>
        <p:nvSpPr>
          <p:cNvPr id="15" name="Text 13"/>
          <p:cNvSpPr txBox="1"/>
          <p:nvPr/>
        </p:nvSpPr>
        <p:spPr>
          <a:xfrm>
            <a:off x="8430768" y="2834640"/>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order frozen in the data contract</a:t>
            </a:r>
            <a:endParaRPr lang="en-US" sz="1150" dirty="0"/>
          </a:p>
        </p:txBody>
      </p:sp>
      <p:sp>
        <p:nvSpPr>
          <p:cNvPr id="16" name="Shape 14"/>
          <p:cNvSpPr/>
          <p:nvPr/>
        </p:nvSpPr>
        <p:spPr>
          <a:xfrm>
            <a:off x="640080" y="3584448"/>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7" name="Text 15"/>
          <p:cNvSpPr txBox="1"/>
          <p:nvPr/>
        </p:nvSpPr>
        <p:spPr>
          <a:xfrm>
            <a:off x="896112" y="3749040"/>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15</a:t>
            </a:r>
            <a:endParaRPr lang="en-US" sz="3800" dirty="0"/>
          </a:p>
        </p:txBody>
      </p:sp>
      <p:sp>
        <p:nvSpPr>
          <p:cNvPr id="18" name="Text 16"/>
          <p:cNvSpPr txBox="1"/>
          <p:nvPr/>
        </p:nvSpPr>
        <p:spPr>
          <a:xfrm>
            <a:off x="896112" y="4443984"/>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output depths</a:t>
            </a:r>
            <a:endParaRPr lang="en-US" sz="1350" dirty="0"/>
          </a:p>
        </p:txBody>
      </p:sp>
      <p:sp>
        <p:nvSpPr>
          <p:cNvPr id="19" name="Text 17"/>
          <p:cNvSpPr txBox="1"/>
          <p:nvPr/>
        </p:nvSpPr>
        <p:spPr>
          <a:xfrm>
            <a:off x="896112" y="4718304"/>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0 m down to 1000 m</a:t>
            </a:r>
            <a:endParaRPr lang="en-US" sz="1150" dirty="0"/>
          </a:p>
        </p:txBody>
      </p:sp>
      <p:sp>
        <p:nvSpPr>
          <p:cNvPr id="20" name="Shape 18"/>
          <p:cNvSpPr/>
          <p:nvPr/>
        </p:nvSpPr>
        <p:spPr>
          <a:xfrm>
            <a:off x="4407408" y="3584448"/>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1" name="Text 19"/>
          <p:cNvSpPr txBox="1"/>
          <p:nvPr/>
        </p:nvSpPr>
        <p:spPr>
          <a:xfrm>
            <a:off x="4663440" y="3749040"/>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1,164</a:t>
            </a:r>
            <a:endParaRPr lang="en-US" sz="3800" dirty="0"/>
          </a:p>
        </p:txBody>
      </p:sp>
      <p:sp>
        <p:nvSpPr>
          <p:cNvPr id="22" name="Text 20"/>
          <p:cNvSpPr txBox="1"/>
          <p:nvPr/>
        </p:nvSpPr>
        <p:spPr>
          <a:xfrm>
            <a:off x="4663440" y="4443984"/>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satellite files verified</a:t>
            </a:r>
            <a:endParaRPr lang="en-US" sz="1350" dirty="0"/>
          </a:p>
        </p:txBody>
      </p:sp>
      <p:sp>
        <p:nvSpPr>
          <p:cNvPr id="23" name="Text 21"/>
          <p:cNvSpPr txBox="1"/>
          <p:nvPr/>
        </p:nvSpPr>
        <p:spPr>
          <a:xfrm>
            <a:off x="4663440" y="4718304"/>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3 products × 388 days, no gaps</a:t>
            </a:r>
            <a:endParaRPr lang="en-US" sz="1150" dirty="0"/>
          </a:p>
        </p:txBody>
      </p:sp>
      <p:sp>
        <p:nvSpPr>
          <p:cNvPr id="24" name="Shape 22"/>
          <p:cNvSpPr/>
          <p:nvPr/>
        </p:nvSpPr>
        <p:spPr>
          <a:xfrm>
            <a:off x="8174736" y="3584448"/>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5" name="Text 23"/>
          <p:cNvSpPr txBox="1"/>
          <p:nvPr/>
        </p:nvSpPr>
        <p:spPr>
          <a:xfrm>
            <a:off x="8430768" y="3749040"/>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962</a:t>
            </a:r>
            <a:endParaRPr lang="en-US" sz="3800" dirty="0"/>
          </a:p>
        </p:txBody>
      </p:sp>
      <p:sp>
        <p:nvSpPr>
          <p:cNvPr id="26" name="Text 24"/>
          <p:cNvSpPr txBox="1"/>
          <p:nvPr/>
        </p:nvSpPr>
        <p:spPr>
          <a:xfrm>
            <a:off x="8430768" y="4443984"/>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independent Argo profiles</a:t>
            </a:r>
            <a:endParaRPr lang="en-US" sz="1350" dirty="0"/>
          </a:p>
        </p:txBody>
      </p:sp>
      <p:sp>
        <p:nvSpPr>
          <p:cNvPr id="27" name="Text 25"/>
          <p:cNvSpPr txBox="1"/>
          <p:nvPr/>
        </p:nvSpPr>
        <p:spPr>
          <a:xfrm>
            <a:off x="8430768" y="4718304"/>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held back — never seen in training</a:t>
            </a:r>
            <a:endParaRPr lang="en-US" sz="1150" dirty="0"/>
          </a:p>
        </p:txBody>
      </p:sp>
      <p:sp>
        <p:nvSpPr>
          <p:cNvPr id="28" name="Shape 26"/>
          <p:cNvSpPr/>
          <p:nvPr/>
        </p:nvSpPr>
        <p:spPr>
          <a:xfrm>
            <a:off x="640080" y="5468112"/>
            <a:ext cx="10911535" cy="859536"/>
          </a:xfrm>
          <a:prstGeom prst="roundRect">
            <a:avLst>
              <a:gd name="adj" fmla="val 9574"/>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29" name="Text 27"/>
          <p:cNvSpPr txBox="1"/>
          <p:nvPr/>
        </p:nvSpPr>
        <p:spPr>
          <a:xfrm>
            <a:off x="932688" y="5596128"/>
            <a:ext cx="2194560" cy="237744"/>
          </a:xfrm>
          <a:prstGeom prst="rect">
            <a:avLst/>
          </a:prstGeom>
          <a:noFill/>
          <a:ln/>
        </p:spPr>
        <p:txBody>
          <a:bodyPr wrap="square" lIns="0" tIns="0" rIns="0" bIns="0" rtlCol="0" anchor="ctr"/>
          <a:lstStyle/>
          <a:p>
            <a:pPr indent="0" marL="0">
              <a:buNone/>
            </a:pPr>
            <a:r>
              <a:rPr lang="en-US" sz="1000" b="1" spc="200" kern="0" dirty="0">
                <a:solidFill>
                  <a:srgbClr val="7FC5D8"/>
                </a:solidFill>
                <a:latin typeface="Calibri" pitchFamily="34" charset="0"/>
                <a:ea typeface="Calibri" pitchFamily="34" charset="-122"/>
                <a:cs typeface="Calibri" pitchFamily="34" charset="-120"/>
              </a:rPr>
              <a:t>THE 15 DEPTHS</a:t>
            </a:r>
            <a:endParaRPr lang="en-US" sz="1000" dirty="0"/>
          </a:p>
        </p:txBody>
      </p:sp>
      <p:sp>
        <p:nvSpPr>
          <p:cNvPr id="30" name="Text 28"/>
          <p:cNvSpPr txBox="1"/>
          <p:nvPr/>
        </p:nvSpPr>
        <p:spPr>
          <a:xfrm>
            <a:off x="932688" y="5852160"/>
            <a:ext cx="10326319"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0  ·  5  ·  10  ·  20  ·  30  ·  50  ·  75  ·  100  ·  125  ·  150  ·  200  ·  300  ·  500  ·  700  ·  1000 metres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THE METHOD</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How it works, in three steps</a:t>
            </a:r>
            <a:endParaRPr lang="en-US" sz="3400" dirty="0"/>
          </a:p>
        </p:txBody>
      </p:sp>
      <p:sp>
        <p:nvSpPr>
          <p:cNvPr id="4" name="Shape 2"/>
          <p:cNvSpPr/>
          <p:nvPr/>
        </p:nvSpPr>
        <p:spPr>
          <a:xfrm>
            <a:off x="640080" y="1700784"/>
            <a:ext cx="10911535" cy="1298448"/>
          </a:xfrm>
          <a:prstGeom prst="roundRect">
            <a:avLst>
              <a:gd name="adj" fmla="val 633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5" name="Shape 3"/>
          <p:cNvSpPr/>
          <p:nvPr/>
        </p:nvSpPr>
        <p:spPr>
          <a:xfrm>
            <a:off x="950976" y="2084832"/>
            <a:ext cx="530352" cy="530352"/>
          </a:xfrm>
          <a:prstGeom prst="ellipse">
            <a:avLst/>
          </a:prstGeom>
          <a:solidFill>
            <a:srgbClr val="1C7293"/>
          </a:solidFill>
          <a:ln w="12700">
            <a:solidFill>
              <a:srgbClr val="1C7293"/>
            </a:solidFill>
            <a:prstDash val="solid"/>
          </a:ln>
        </p:spPr>
      </p:sp>
      <p:sp>
        <p:nvSpPr>
          <p:cNvPr id="6" name="Text 4"/>
          <p:cNvSpPr txBox="1"/>
          <p:nvPr/>
        </p:nvSpPr>
        <p:spPr>
          <a:xfrm>
            <a:off x="950976" y="2084832"/>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a:t>
            </a:r>
            <a:endParaRPr lang="en-US" sz="1900" dirty="0"/>
          </a:p>
        </p:txBody>
      </p:sp>
      <p:sp>
        <p:nvSpPr>
          <p:cNvPr id="7" name="Text 5"/>
          <p:cNvSpPr txBox="1"/>
          <p:nvPr/>
        </p:nvSpPr>
        <p:spPr>
          <a:xfrm>
            <a:off x="1645920" y="1874520"/>
            <a:ext cx="1645920" cy="237744"/>
          </a:xfrm>
          <a:prstGeom prst="rect">
            <a:avLst/>
          </a:prstGeom>
          <a:noFill/>
          <a:ln/>
        </p:spPr>
        <p:txBody>
          <a:bodyPr wrap="square" lIns="0" tIns="0" rIns="0" bIns="0" rtlCol="0" anchor="ctr"/>
          <a:lstStyle/>
          <a:p>
            <a:pPr indent="0" marL="0">
              <a:buNone/>
            </a:pPr>
            <a:r>
              <a:rPr lang="en-US" sz="1000" b="1" spc="200" kern="0" dirty="0">
                <a:solidFill>
                  <a:srgbClr val="1C7293"/>
                </a:solidFill>
                <a:latin typeface="Calibri" pitchFamily="34" charset="0"/>
                <a:ea typeface="Calibri" pitchFamily="34" charset="-122"/>
                <a:cs typeface="Calibri" pitchFamily="34" charset="-120"/>
              </a:rPr>
              <a:t>LOOK</a:t>
            </a:r>
            <a:endParaRPr lang="en-US" sz="1000" dirty="0"/>
          </a:p>
        </p:txBody>
      </p:sp>
      <p:sp>
        <p:nvSpPr>
          <p:cNvPr id="8" name="Text 6"/>
          <p:cNvSpPr txBox="1"/>
          <p:nvPr/>
        </p:nvSpPr>
        <p:spPr>
          <a:xfrm>
            <a:off x="1645920" y="2121408"/>
            <a:ext cx="9235440" cy="329184"/>
          </a:xfrm>
          <a:prstGeom prst="rect">
            <a:avLst/>
          </a:prstGeom>
          <a:noFill/>
          <a:ln/>
        </p:spPr>
        <p:txBody>
          <a:bodyPr wrap="square" lIns="0" tIns="0" rIns="0" bIns="0" rtlCol="0" anchor="ctr"/>
          <a:lstStyle/>
          <a:p>
            <a:pPr indent="0" marL="0">
              <a:buNone/>
            </a:pPr>
            <a:r>
              <a:rPr lang="en-US" sz="1700" b="1" dirty="0">
                <a:solidFill>
                  <a:srgbClr val="0A2540"/>
                </a:solidFill>
                <a:latin typeface="Cambria" pitchFamily="34" charset="0"/>
                <a:ea typeface="Cambria" pitchFamily="34" charset="-122"/>
                <a:cs typeface="Cambria" pitchFamily="34" charset="-120"/>
              </a:rPr>
              <a:t>It reads 11 days, not one.</a:t>
            </a:r>
            <a:endParaRPr lang="en-US" sz="1700" dirty="0"/>
          </a:p>
        </p:txBody>
      </p:sp>
      <p:sp>
        <p:nvSpPr>
          <p:cNvPr id="9" name="Text 7"/>
          <p:cNvSpPr txBox="1"/>
          <p:nvPr/>
        </p:nvSpPr>
        <p:spPr>
          <a:xfrm>
            <a:off x="1645920" y="2487168"/>
            <a:ext cx="9235440" cy="420624"/>
          </a:xfrm>
          <a:prstGeom prst="rect">
            <a:avLst/>
          </a:prstGeom>
          <a:noFill/>
          <a:ln/>
        </p:spPr>
        <p:txBody>
          <a:bodyPr wrap="square" lIns="0" tIns="0" rIns="0" bIns="0" rtlCol="0" anchor="ctr"/>
          <a:lstStyle/>
          <a:p>
            <a:pPr indent="0" marL="0">
              <a:lnSpc>
                <a:spcPts val="1600"/>
              </a:lnSpc>
              <a:buNone/>
            </a:pPr>
            <a:r>
              <a:rPr lang="en-US" sz="1250" dirty="0">
                <a:solidFill>
                  <a:srgbClr val="5E7A8C"/>
                </a:solidFill>
                <a:latin typeface="Calibri" pitchFamily="34" charset="0"/>
                <a:ea typeface="Calibri" pitchFamily="34" charset="-122"/>
                <a:cs typeface="Calibri" pitchFamily="34" charset="-120"/>
              </a:rPr>
              <a:t>The ocean interior lags the surface. The model sees a rolling 11-day window of surface maps around each target day, over a ±2° neighbourhood — roughly the size of an ocean eddy.</a:t>
            </a:r>
            <a:endParaRPr lang="en-US" sz="1250" dirty="0"/>
          </a:p>
        </p:txBody>
      </p:sp>
      <p:sp>
        <p:nvSpPr>
          <p:cNvPr id="10" name="Shape 8"/>
          <p:cNvSpPr/>
          <p:nvPr/>
        </p:nvSpPr>
        <p:spPr>
          <a:xfrm>
            <a:off x="640080" y="3145536"/>
            <a:ext cx="10911535" cy="1298448"/>
          </a:xfrm>
          <a:prstGeom prst="roundRect">
            <a:avLst>
              <a:gd name="adj" fmla="val 633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1" name="Shape 9"/>
          <p:cNvSpPr/>
          <p:nvPr/>
        </p:nvSpPr>
        <p:spPr>
          <a:xfrm>
            <a:off x="950976" y="3529584"/>
            <a:ext cx="530352" cy="530352"/>
          </a:xfrm>
          <a:prstGeom prst="ellipse">
            <a:avLst/>
          </a:prstGeom>
          <a:solidFill>
            <a:srgbClr val="F08A24"/>
          </a:solidFill>
          <a:ln w="12700">
            <a:solidFill>
              <a:srgbClr val="F08A24"/>
            </a:solidFill>
            <a:prstDash val="solid"/>
          </a:ln>
        </p:spPr>
      </p:sp>
      <p:sp>
        <p:nvSpPr>
          <p:cNvPr id="12" name="Text 10"/>
          <p:cNvSpPr txBox="1"/>
          <p:nvPr/>
        </p:nvSpPr>
        <p:spPr>
          <a:xfrm>
            <a:off x="950976" y="3529584"/>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a:t>
            </a:r>
            <a:endParaRPr lang="en-US" sz="1900" dirty="0"/>
          </a:p>
        </p:txBody>
      </p:sp>
      <p:sp>
        <p:nvSpPr>
          <p:cNvPr id="13" name="Text 11"/>
          <p:cNvSpPr txBox="1"/>
          <p:nvPr/>
        </p:nvSpPr>
        <p:spPr>
          <a:xfrm>
            <a:off x="1645920" y="3319272"/>
            <a:ext cx="1645920" cy="237744"/>
          </a:xfrm>
          <a:prstGeom prst="rect">
            <a:avLst/>
          </a:prstGeom>
          <a:noFill/>
          <a:ln/>
        </p:spPr>
        <p:txBody>
          <a:bodyPr wrap="square" lIns="0" tIns="0" rIns="0" bIns="0" rtlCol="0" anchor="ctr"/>
          <a:lstStyle/>
          <a:p>
            <a:pPr indent="0" marL="0">
              <a:buNone/>
            </a:pPr>
            <a:r>
              <a:rPr lang="en-US" sz="1000" b="1" spc="200" kern="0" dirty="0">
                <a:solidFill>
                  <a:srgbClr val="1C7293"/>
                </a:solidFill>
                <a:latin typeface="Calibri" pitchFamily="34" charset="0"/>
                <a:ea typeface="Calibri" pitchFamily="34" charset="-122"/>
                <a:cs typeface="Calibri" pitchFamily="34" charset="-120"/>
              </a:rPr>
              <a:t>COMPRESS</a:t>
            </a:r>
            <a:endParaRPr lang="en-US" sz="1000" dirty="0"/>
          </a:p>
        </p:txBody>
      </p:sp>
      <p:sp>
        <p:nvSpPr>
          <p:cNvPr id="14" name="Text 12"/>
          <p:cNvSpPr txBox="1"/>
          <p:nvPr/>
        </p:nvSpPr>
        <p:spPr>
          <a:xfrm>
            <a:off x="1645920" y="3566160"/>
            <a:ext cx="9235440" cy="329184"/>
          </a:xfrm>
          <a:prstGeom prst="rect">
            <a:avLst/>
          </a:prstGeom>
          <a:noFill/>
          <a:ln/>
        </p:spPr>
        <p:txBody>
          <a:bodyPr wrap="square" lIns="0" tIns="0" rIns="0" bIns="0" rtlCol="0" anchor="ctr"/>
          <a:lstStyle/>
          <a:p>
            <a:pPr indent="0" marL="0">
              <a:buNone/>
            </a:pPr>
            <a:r>
              <a:rPr lang="en-US" sz="1700" b="1" dirty="0">
                <a:solidFill>
                  <a:srgbClr val="0A2540"/>
                </a:solidFill>
                <a:latin typeface="Cambria" pitchFamily="34" charset="0"/>
                <a:ea typeface="Cambria" pitchFamily="34" charset="-122"/>
                <a:cs typeface="Cambria" pitchFamily="34" charset="-120"/>
              </a:rPr>
              <a:t>A 3D CNN squeezes that stack into 128 numbers.</a:t>
            </a:r>
            <a:endParaRPr lang="en-US" sz="1700" dirty="0"/>
          </a:p>
        </p:txBody>
      </p:sp>
      <p:sp>
        <p:nvSpPr>
          <p:cNvPr id="15" name="Text 13"/>
          <p:cNvSpPr txBox="1"/>
          <p:nvPr/>
        </p:nvSpPr>
        <p:spPr>
          <a:xfrm>
            <a:off x="1645920" y="3931920"/>
            <a:ext cx="9235440" cy="420624"/>
          </a:xfrm>
          <a:prstGeom prst="rect">
            <a:avLst/>
          </a:prstGeom>
          <a:noFill/>
          <a:ln/>
        </p:spPr>
        <p:txBody>
          <a:bodyPr wrap="square" lIns="0" tIns="0" rIns="0" bIns="0" rtlCol="0" anchor="ctr"/>
          <a:lstStyle/>
          <a:p>
            <a:pPr indent="0" marL="0">
              <a:lnSpc>
                <a:spcPts val="1600"/>
              </a:lnSpc>
              <a:buNone/>
            </a:pPr>
            <a:r>
              <a:rPr lang="en-US" sz="1250" dirty="0">
                <a:solidFill>
                  <a:srgbClr val="5E7A8C"/>
                </a:solidFill>
                <a:latin typeface="Calibri" pitchFamily="34" charset="0"/>
                <a:ea typeface="Calibri" pitchFamily="34" charset="-122"/>
                <a:cs typeface="Calibri" pitchFamily="34" charset="-120"/>
              </a:rPr>
              <a:t>This compact embedding is the whole point: keep what predicts depth, throw the rest away. We picked the encoder by running a four-way comparison and measuring — not by guessing.</a:t>
            </a:r>
            <a:endParaRPr lang="en-US" sz="1250" dirty="0"/>
          </a:p>
        </p:txBody>
      </p:sp>
      <p:sp>
        <p:nvSpPr>
          <p:cNvPr id="16" name="Shape 14"/>
          <p:cNvSpPr/>
          <p:nvPr/>
        </p:nvSpPr>
        <p:spPr>
          <a:xfrm>
            <a:off x="640080" y="4590288"/>
            <a:ext cx="10911535" cy="1298448"/>
          </a:xfrm>
          <a:prstGeom prst="roundRect">
            <a:avLst>
              <a:gd name="adj" fmla="val 633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7" name="Shape 15"/>
          <p:cNvSpPr/>
          <p:nvPr/>
        </p:nvSpPr>
        <p:spPr>
          <a:xfrm>
            <a:off x="950976" y="4974336"/>
            <a:ext cx="530352" cy="530352"/>
          </a:xfrm>
          <a:prstGeom prst="ellipse">
            <a:avLst/>
          </a:prstGeom>
          <a:solidFill>
            <a:srgbClr val="1C7293"/>
          </a:solidFill>
          <a:ln w="12700">
            <a:solidFill>
              <a:srgbClr val="1C7293"/>
            </a:solidFill>
            <a:prstDash val="solid"/>
          </a:ln>
        </p:spPr>
      </p:sp>
      <p:sp>
        <p:nvSpPr>
          <p:cNvPr id="18" name="Text 16"/>
          <p:cNvSpPr txBox="1"/>
          <p:nvPr/>
        </p:nvSpPr>
        <p:spPr>
          <a:xfrm>
            <a:off x="950976" y="4974336"/>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3</a:t>
            </a:r>
            <a:endParaRPr lang="en-US" sz="1900" dirty="0"/>
          </a:p>
        </p:txBody>
      </p:sp>
      <p:sp>
        <p:nvSpPr>
          <p:cNvPr id="19" name="Text 17"/>
          <p:cNvSpPr txBox="1"/>
          <p:nvPr/>
        </p:nvSpPr>
        <p:spPr>
          <a:xfrm>
            <a:off x="1645920" y="4764024"/>
            <a:ext cx="1645920" cy="237744"/>
          </a:xfrm>
          <a:prstGeom prst="rect">
            <a:avLst/>
          </a:prstGeom>
          <a:noFill/>
          <a:ln/>
        </p:spPr>
        <p:txBody>
          <a:bodyPr wrap="square" lIns="0" tIns="0" rIns="0" bIns="0" rtlCol="0" anchor="ctr"/>
          <a:lstStyle/>
          <a:p>
            <a:pPr indent="0" marL="0">
              <a:buNone/>
            </a:pPr>
            <a:r>
              <a:rPr lang="en-US" sz="1000" b="1" spc="200" kern="0" dirty="0">
                <a:solidFill>
                  <a:srgbClr val="1C7293"/>
                </a:solidFill>
                <a:latin typeface="Calibri" pitchFamily="34" charset="0"/>
                <a:ea typeface="Calibri" pitchFamily="34" charset="-122"/>
                <a:cs typeface="Calibri" pitchFamily="34" charset="-120"/>
              </a:rPr>
              <a:t>EXPAND</a:t>
            </a:r>
            <a:endParaRPr lang="en-US" sz="1000" dirty="0"/>
          </a:p>
        </p:txBody>
      </p:sp>
      <p:sp>
        <p:nvSpPr>
          <p:cNvPr id="20" name="Text 18"/>
          <p:cNvSpPr txBox="1"/>
          <p:nvPr/>
        </p:nvSpPr>
        <p:spPr>
          <a:xfrm>
            <a:off x="1645920" y="5010912"/>
            <a:ext cx="9235440" cy="329184"/>
          </a:xfrm>
          <a:prstGeom prst="rect">
            <a:avLst/>
          </a:prstGeom>
          <a:noFill/>
          <a:ln/>
        </p:spPr>
        <p:txBody>
          <a:bodyPr wrap="square" lIns="0" tIns="0" rIns="0" bIns="0" rtlCol="0" anchor="ctr"/>
          <a:lstStyle/>
          <a:p>
            <a:pPr indent="0" marL="0">
              <a:buNone/>
            </a:pPr>
            <a:r>
              <a:rPr lang="en-US" sz="1700" b="1" dirty="0">
                <a:solidFill>
                  <a:srgbClr val="0A2540"/>
                </a:solidFill>
                <a:latin typeface="Cambria" pitchFamily="34" charset="0"/>
                <a:ea typeface="Cambria" pitchFamily="34" charset="-122"/>
                <a:cs typeface="Cambria" pitchFamily="34" charset="-120"/>
              </a:rPr>
              <a:t>A decoder opens 128 numbers into 15 temperatures — and 15 uncertainties.</a:t>
            </a:r>
            <a:endParaRPr lang="en-US" sz="1700" dirty="0"/>
          </a:p>
        </p:txBody>
      </p:sp>
      <p:sp>
        <p:nvSpPr>
          <p:cNvPr id="21" name="Text 19"/>
          <p:cNvSpPr txBox="1"/>
          <p:nvPr/>
        </p:nvSpPr>
        <p:spPr>
          <a:xfrm>
            <a:off x="1645920" y="5376672"/>
            <a:ext cx="9235440" cy="420624"/>
          </a:xfrm>
          <a:prstGeom prst="rect">
            <a:avLst/>
          </a:prstGeom>
          <a:noFill/>
          <a:ln/>
        </p:spPr>
        <p:txBody>
          <a:bodyPr wrap="square" lIns="0" tIns="0" rIns="0" bIns="0" rtlCol="0" anchor="ctr"/>
          <a:lstStyle/>
          <a:p>
            <a:pPr indent="0" marL="0">
              <a:lnSpc>
                <a:spcPts val="1600"/>
              </a:lnSpc>
              <a:buNone/>
            </a:pPr>
            <a:r>
              <a:rPr lang="en-US" sz="1250" dirty="0">
                <a:solidFill>
                  <a:srgbClr val="5E7A8C"/>
                </a:solidFill>
                <a:latin typeface="Calibri" pitchFamily="34" charset="0"/>
                <a:ea typeface="Calibri" pitchFamily="34" charset="-122"/>
                <a:cs typeface="Calibri" pitchFamily="34" charset="-120"/>
              </a:rPr>
              <a:t>549,000 parameters in total. It trains in about 9 minutes on a single GPU, and the checkpoint we keep is the best held-out epoch, not the last one.</a:t>
            </a:r>
            <a:endParaRPr lang="en-US" sz="1250" dirty="0"/>
          </a:p>
        </p:txBody>
      </p:sp>
      <p:sp>
        <p:nvSpPr>
          <p:cNvPr id="22" name="Text 20"/>
          <p:cNvSpPr txBox="1"/>
          <p:nvPr/>
        </p:nvSpPr>
        <p:spPr>
          <a:xfrm>
            <a:off x="640080" y="6053328"/>
            <a:ext cx="10911535" cy="402336"/>
          </a:xfrm>
          <a:prstGeom prst="rect">
            <a:avLst/>
          </a:prstGeom>
          <a:noFill/>
          <a:ln/>
        </p:spPr>
        <p:txBody>
          <a:bodyPr wrap="square" lIns="0" tIns="0" rIns="0" bIns="0" rtlCol="0" anchor="ctr"/>
          <a:lstStyle/>
          <a:p>
            <a:pPr indent="0" marL="0">
              <a:buNone/>
            </a:pPr>
            <a:r>
              <a:rPr lang="en-US" sz="1250" b="1" dirty="0">
                <a:solidFill>
                  <a:srgbClr val="0A2540"/>
                </a:solidFill>
                <a:latin typeface="Calibri" pitchFamily="34" charset="0"/>
                <a:ea typeface="Calibri" pitchFamily="34" charset="-122"/>
                <a:cs typeface="Calibri" pitchFamily="34" charset="-120"/>
              </a:rPr>
              <a:t>Small on purpose. </a:t>
            </a:r>
            <a:pPr indent="0" marL="0">
              <a:buNone/>
            </a:pPr>
            <a:r>
              <a:rPr lang="en-US" sz="1250" dirty="0">
                <a:solidFill>
                  <a:srgbClr val="5E7A8C"/>
                </a:solidFill>
                <a:latin typeface="Calibri" pitchFamily="34" charset="0"/>
                <a:ea typeface="Calibri" pitchFamily="34" charset="-122"/>
                <a:cs typeface="Calibri" pitchFamily="34" charset="-120"/>
              </a:rPr>
              <a:t>At the original paper's width the model is 13× larger and overfits by epoch 3 on our data, so we cut it to match the data we actually have.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TRUST</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We broke our own results — on purpose</a:t>
            </a:r>
            <a:endParaRPr lang="en-US" sz="3400" dirty="0"/>
          </a:p>
        </p:txBody>
      </p:sp>
      <p:sp>
        <p:nvSpPr>
          <p:cNvPr id="4" name="Shape 2"/>
          <p:cNvSpPr/>
          <p:nvPr/>
        </p:nvSpPr>
        <p:spPr>
          <a:xfrm>
            <a:off x="640080" y="1865376"/>
            <a:ext cx="274320" cy="274320"/>
          </a:xfrm>
          <a:prstGeom prst="ellipse">
            <a:avLst/>
          </a:prstGeom>
          <a:solidFill>
            <a:srgbClr val="F08A24"/>
          </a:solidFill>
          <a:ln w="12700">
            <a:solidFill>
              <a:srgbClr val="F08A24"/>
            </a:solidFill>
            <a:prstDash val="solid"/>
          </a:ln>
        </p:spPr>
      </p:sp>
      <p:sp>
        <p:nvSpPr>
          <p:cNvPr id="5" name="Text 3"/>
          <p:cNvSpPr txBox="1"/>
          <p:nvPr/>
        </p:nvSpPr>
        <p:spPr>
          <a:xfrm>
            <a:off x="1115568" y="1810512"/>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Our split was right. Our window was not.</a:t>
            </a:r>
            <a:endParaRPr lang="en-US" sz="1500" dirty="0"/>
          </a:p>
        </p:txBody>
      </p:sp>
      <p:sp>
        <p:nvSpPr>
          <p:cNvPr id="6" name="Text 4"/>
          <p:cNvSpPr txBox="1"/>
          <p:nvPr/>
        </p:nvSpPr>
        <p:spPr>
          <a:xfrm>
            <a:off x="1115568" y="2157984"/>
            <a:ext cx="6263640" cy="786384"/>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Train and test dates were correctly separated. But the 11-day input window clamped to the ends of the array instead of to the split.</a:t>
            </a:r>
            <a:endParaRPr lang="en-US" sz="1250" dirty="0"/>
          </a:p>
        </p:txBody>
      </p:sp>
      <p:sp>
        <p:nvSpPr>
          <p:cNvPr id="7" name="Shape 5"/>
          <p:cNvSpPr/>
          <p:nvPr/>
        </p:nvSpPr>
        <p:spPr>
          <a:xfrm>
            <a:off x="640080" y="3218688"/>
            <a:ext cx="274320" cy="274320"/>
          </a:xfrm>
          <a:prstGeom prst="ellipse">
            <a:avLst/>
          </a:prstGeom>
          <a:solidFill>
            <a:srgbClr val="F08A24"/>
          </a:solidFill>
          <a:ln w="12700">
            <a:solidFill>
              <a:srgbClr val="F08A24"/>
            </a:solidFill>
            <a:prstDash val="solid"/>
          </a:ln>
        </p:spPr>
      </p:sp>
      <p:sp>
        <p:nvSpPr>
          <p:cNvPr id="8" name="Text 6"/>
          <p:cNvSpPr txBox="1"/>
          <p:nvPr/>
        </p:nvSpPr>
        <p:spPr>
          <a:xfrm>
            <a:off x="1115568" y="3163824"/>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5 of 304 training days could peek.</a:t>
            </a:r>
            <a:endParaRPr lang="en-US" sz="1500" dirty="0"/>
          </a:p>
        </p:txBody>
      </p:sp>
      <p:sp>
        <p:nvSpPr>
          <p:cNvPr id="9" name="Text 7"/>
          <p:cNvSpPr txBox="1"/>
          <p:nvPr/>
        </p:nvSpPr>
        <p:spPr>
          <a:xfrm>
            <a:off x="1115568" y="3511296"/>
            <a:ext cx="6263640" cy="786384"/>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Those days (27–31 March 2026) read surface fields from the test period — 1.6% contamination. Every test we had still passed.</a:t>
            </a:r>
            <a:endParaRPr lang="en-US" sz="1250" dirty="0"/>
          </a:p>
        </p:txBody>
      </p:sp>
      <p:sp>
        <p:nvSpPr>
          <p:cNvPr id="10" name="Shape 8"/>
          <p:cNvSpPr/>
          <p:nvPr/>
        </p:nvSpPr>
        <p:spPr>
          <a:xfrm>
            <a:off x="640080" y="4572000"/>
            <a:ext cx="274320" cy="274320"/>
          </a:xfrm>
          <a:prstGeom prst="ellipse">
            <a:avLst/>
          </a:prstGeom>
          <a:solidFill>
            <a:srgbClr val="F08A24"/>
          </a:solidFill>
          <a:ln w="12700">
            <a:solidFill>
              <a:srgbClr val="F08A24"/>
            </a:solidFill>
            <a:prstDash val="solid"/>
          </a:ln>
        </p:spPr>
      </p:sp>
      <p:sp>
        <p:nvSpPr>
          <p:cNvPr id="11" name="Text 9"/>
          <p:cNvSpPr txBox="1"/>
          <p:nvPr/>
        </p:nvSpPr>
        <p:spPr>
          <a:xfrm>
            <a:off x="1115568" y="4517136"/>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We wrote the failing test first.</a:t>
            </a:r>
            <a:endParaRPr lang="en-US" sz="1500" dirty="0"/>
          </a:p>
        </p:txBody>
      </p:sp>
      <p:sp>
        <p:nvSpPr>
          <p:cNvPr id="12" name="Text 10"/>
          <p:cNvSpPr txBox="1"/>
          <p:nvPr/>
        </p:nvSpPr>
        <p:spPr>
          <a:xfrm>
            <a:off x="1115568" y="4864608"/>
            <a:ext cx="6263640" cy="786384"/>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It failed with exactly 5 crossings, proving it catches the real bug. Then we fixed the window, retrained, and re-scored from scratch.</a:t>
            </a:r>
            <a:endParaRPr lang="en-US" sz="1250" dirty="0"/>
          </a:p>
        </p:txBody>
      </p:sp>
      <p:sp>
        <p:nvSpPr>
          <p:cNvPr id="13" name="Shape 11"/>
          <p:cNvSpPr/>
          <p:nvPr/>
        </p:nvSpPr>
        <p:spPr>
          <a:xfrm>
            <a:off x="7498080" y="1810512"/>
            <a:ext cx="4050792" cy="3291840"/>
          </a:xfrm>
          <a:prstGeom prst="roundRect">
            <a:avLst>
              <a:gd name="adj" fmla="val 2500"/>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14" name="Text 12"/>
          <p:cNvSpPr txBox="1"/>
          <p:nvPr/>
        </p:nvSpPr>
        <p:spPr>
          <a:xfrm>
            <a:off x="7790688" y="2103120"/>
            <a:ext cx="3465576" cy="1243584"/>
          </a:xfrm>
          <a:prstGeom prst="rect">
            <a:avLst/>
          </a:prstGeom>
          <a:noFill/>
          <a:ln/>
        </p:spPr>
        <p:txBody>
          <a:bodyPr wrap="square" lIns="0" tIns="0" rIns="0" bIns="0" rtlCol="0" anchor="ctr"/>
          <a:lstStyle/>
          <a:p>
            <a:pPr indent="0" marL="0">
              <a:lnSpc>
                <a:spcPts val="2700"/>
              </a:lnSpc>
              <a:buNone/>
            </a:pPr>
            <a:r>
              <a:rPr lang="en-US" sz="2100" b="1" dirty="0">
                <a:solidFill>
                  <a:srgbClr val="FFFFFF"/>
                </a:solidFill>
                <a:latin typeface="Cambria" pitchFamily="34" charset="0"/>
                <a:ea typeface="Cambria" pitchFamily="34" charset="-122"/>
                <a:cs typeface="Cambria" pitchFamily="34" charset="-120"/>
              </a:rPr>
              <a:t>Every number in this deck was produced after that fix.</a:t>
            </a:r>
            <a:endParaRPr lang="en-US" sz="2100" dirty="0"/>
          </a:p>
        </p:txBody>
      </p:sp>
      <p:sp>
        <p:nvSpPr>
          <p:cNvPr id="15" name="Shape 13"/>
          <p:cNvSpPr/>
          <p:nvPr/>
        </p:nvSpPr>
        <p:spPr>
          <a:xfrm>
            <a:off x="7790688" y="3474720"/>
            <a:ext cx="1005840" cy="32004"/>
          </a:xfrm>
          <a:prstGeom prst="rect">
            <a:avLst/>
          </a:prstGeom>
          <a:solidFill>
            <a:srgbClr val="F08A24"/>
          </a:solidFill>
          <a:ln w="12700">
            <a:solidFill>
              <a:srgbClr val="F08A24"/>
            </a:solidFill>
            <a:prstDash val="solid"/>
          </a:ln>
        </p:spPr>
      </p:sp>
      <p:sp>
        <p:nvSpPr>
          <p:cNvPr id="16" name="Text 14"/>
          <p:cNvSpPr txBox="1"/>
          <p:nvPr/>
        </p:nvSpPr>
        <p:spPr>
          <a:xfrm>
            <a:off x="7790688" y="3675888"/>
            <a:ext cx="3465576" cy="1188720"/>
          </a:xfrm>
          <a:prstGeom prst="rect">
            <a:avLst/>
          </a:prstGeom>
          <a:noFill/>
          <a:ln/>
        </p:spPr>
        <p:txBody>
          <a:bodyPr wrap="square" lIns="0" tIns="0" rIns="0" bIns="0" rtlCol="0" anchor="ctr"/>
          <a:lstStyle/>
          <a:p>
            <a:pPr indent="0" marL="0">
              <a:lnSpc>
                <a:spcPts val="1800"/>
              </a:lnSpc>
              <a:buNone/>
            </a:pPr>
            <a:r>
              <a:rPr lang="en-US" sz="1250" dirty="0">
                <a:solidFill>
                  <a:srgbClr val="BDD3E0"/>
                </a:solidFill>
                <a:latin typeface="Calibri" pitchFamily="34" charset="0"/>
                <a:ea typeface="Calibri" pitchFamily="34" charset="-122"/>
                <a:cs typeface="Calibri" pitchFamily="34" charset="-120"/>
              </a:rPr>
              <a:t>Earlier results are marked SUPERSEDED and kept on disk — annotated, never deleted and never edited. The old headline is not quoted anywhere, not even as a comparison.</a:t>
            </a:r>
            <a:endParaRPr lang="en-US" sz="1250" dirty="0"/>
          </a:p>
        </p:txBody>
      </p:sp>
      <p:sp>
        <p:nvSpPr>
          <p:cNvPr id="17" name="Text 15"/>
          <p:cNvSpPr txBox="1"/>
          <p:nvPr/>
        </p:nvSpPr>
        <p:spPr>
          <a:xfrm>
            <a:off x="640080" y="5797296"/>
            <a:ext cx="10881360" cy="365760"/>
          </a:xfrm>
          <a:prstGeom prst="rect">
            <a:avLst/>
          </a:prstGeom>
          <a:noFill/>
          <a:ln/>
        </p:spPr>
        <p:txBody>
          <a:bodyPr wrap="square" lIns="0" tIns="0" rIns="0" bIns="0" rtlCol="0" anchor="ctr"/>
          <a:lstStyle/>
          <a:p>
            <a:pPr indent="0" marL="0">
              <a:buNone/>
            </a:pPr>
            <a:r>
              <a:rPr lang="en-US" sz="1500" i="1" dirty="0">
                <a:solidFill>
                  <a:srgbClr val="1C7293"/>
                </a:solidFill>
                <a:latin typeface="Cambria" pitchFamily="34" charset="0"/>
                <a:ea typeface="Cambria" pitchFamily="34" charset="-122"/>
                <a:cs typeface="Cambria" pitchFamily="34" charset="-120"/>
              </a:rPr>
              <a:t>A result you cannot trust is not a result. Finding this cost us two days, and it was worth every hour.</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RESULTS</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How accurate is it?</a:t>
            </a:r>
            <a:endParaRPr lang="en-US" sz="3400" dirty="0"/>
          </a:p>
        </p:txBody>
      </p:sp>
      <p:sp>
        <p:nvSpPr>
          <p:cNvPr id="4" name="Text 2"/>
          <p:cNvSpPr txBox="1"/>
          <p:nvPr/>
        </p:nvSpPr>
        <p:spPr>
          <a:xfrm>
            <a:off x="640080" y="1426464"/>
            <a:ext cx="10424160" cy="365760"/>
          </a:xfrm>
          <a:prstGeom prst="rect">
            <a:avLst/>
          </a:prstGeom>
          <a:noFill/>
          <a:ln/>
        </p:spPr>
        <p:txBody>
          <a:bodyPr wrap="square" lIns="0" tIns="0" rIns="0" bIns="0" rtlCol="0" anchor="ctr"/>
          <a:lstStyle/>
          <a:p>
            <a:pPr indent="0" marL="0">
              <a:buNone/>
            </a:pPr>
            <a:r>
              <a:rPr lang="en-US" sz="1500" dirty="0">
                <a:solidFill>
                  <a:srgbClr val="5E7A8C"/>
                </a:solidFill>
                <a:latin typeface="Calibri" pitchFamily="34" charset="0"/>
                <a:ea typeface="Calibri" pitchFamily="34" charset="-122"/>
                <a:cs typeface="Calibri" pitchFamily="34" charset="-120"/>
              </a:rPr>
              <a:t>Scored against 962 real Argo float profiles the model has never seen — 12,829 comparisons, matched within 5 days of the test window.</a:t>
            </a:r>
            <a:endParaRPr lang="en-US" sz="1500" dirty="0"/>
          </a:p>
        </p:txBody>
      </p:sp>
      <p:sp>
        <p:nvSpPr>
          <p:cNvPr id="5" name="Shape 3"/>
          <p:cNvSpPr/>
          <p:nvPr/>
        </p:nvSpPr>
        <p:spPr>
          <a:xfrm>
            <a:off x="640080" y="2157984"/>
            <a:ext cx="2514600" cy="1975104"/>
          </a:xfrm>
          <a:prstGeom prst="roundRect">
            <a:avLst>
              <a:gd name="adj" fmla="val 4167"/>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6" name="Text 4"/>
          <p:cNvSpPr txBox="1"/>
          <p:nvPr/>
        </p:nvSpPr>
        <p:spPr>
          <a:xfrm>
            <a:off x="877824" y="2377440"/>
            <a:ext cx="2039112" cy="768096"/>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0.91</a:t>
            </a:r>
            <a:pPr indent="0" marL="0">
              <a:buNone/>
            </a:pPr>
            <a:r>
              <a:rPr lang="en-US" sz="1800" b="1" dirty="0">
                <a:solidFill>
                  <a:srgbClr val="7FC5D8"/>
                </a:solidFill>
                <a:latin typeface="Cambria" pitchFamily="34" charset="0"/>
                <a:ea typeface="Cambria" pitchFamily="34" charset="-122"/>
                <a:cs typeface="Cambria" pitchFamily="34" charset="-120"/>
              </a:rPr>
              <a:t> °C</a:t>
            </a:r>
            <a:endParaRPr lang="en-US" sz="3800" dirty="0"/>
          </a:p>
        </p:txBody>
      </p:sp>
      <p:sp>
        <p:nvSpPr>
          <p:cNvPr id="7" name="Text 5"/>
          <p:cNvSpPr txBox="1"/>
          <p:nvPr/>
        </p:nvSpPr>
        <p:spPr>
          <a:xfrm>
            <a:off x="877824" y="3200400"/>
            <a:ext cx="2039112" cy="493776"/>
          </a:xfrm>
          <a:prstGeom prst="rect">
            <a:avLst/>
          </a:prstGeom>
          <a:noFill/>
          <a:ln/>
        </p:spPr>
        <p:txBody>
          <a:bodyPr wrap="square" lIns="0" tIns="0" rIns="0" bIns="0" rtlCol="0" anchor="ctr"/>
          <a:lstStyle/>
          <a:p>
            <a:pPr indent="0" marL="0">
              <a:lnSpc>
                <a:spcPts val="1700"/>
              </a:lnSpc>
              <a:buNone/>
            </a:pPr>
            <a:r>
              <a:rPr lang="en-US" sz="1400" b="1" dirty="0">
                <a:solidFill>
                  <a:srgbClr val="0A2540"/>
                </a:solidFill>
                <a:latin typeface="Calibri" pitchFamily="34" charset="0"/>
                <a:ea typeface="Calibri" pitchFamily="34" charset="-122"/>
                <a:cs typeface="Calibri" pitchFamily="34" charset="-120"/>
              </a:rPr>
              <a:t>average error</a:t>
            </a:r>
            <a:endParaRPr lang="en-US" sz="1400" dirty="0"/>
          </a:p>
        </p:txBody>
      </p:sp>
      <p:sp>
        <p:nvSpPr>
          <p:cNvPr id="8" name="Text 6"/>
          <p:cNvSpPr txBox="1"/>
          <p:nvPr/>
        </p:nvSpPr>
        <p:spPr>
          <a:xfrm>
            <a:off x="877824" y="3675888"/>
            <a:ext cx="2039112" cy="402336"/>
          </a:xfrm>
          <a:prstGeom prst="rect">
            <a:avLst/>
          </a:prstGeom>
          <a:noFill/>
          <a:ln/>
        </p:spPr>
        <p:txBody>
          <a:bodyPr wrap="square" lIns="0" tIns="0" rIns="0" bIns="0" rtlCol="0" anchor="ctr"/>
          <a:lstStyle/>
          <a:p>
            <a:pPr indent="0" marL="0">
              <a:lnSpc>
                <a:spcPts val="1400"/>
              </a:lnSpc>
              <a:buNone/>
            </a:pPr>
            <a:r>
              <a:rPr lang="en-US" sz="1100" dirty="0">
                <a:solidFill>
                  <a:srgbClr val="5E7A8C"/>
                </a:solidFill>
                <a:latin typeface="Calibri" pitchFamily="34" charset="0"/>
                <a:ea typeface="Calibri" pitchFamily="34" charset="-122"/>
                <a:cs typeface="Calibri" pitchFamily="34" charset="-120"/>
              </a:rPr>
              <a:t>root-mean-square, all depths pooled</a:t>
            </a:r>
            <a:endParaRPr lang="en-US" sz="1100" dirty="0"/>
          </a:p>
        </p:txBody>
      </p:sp>
      <p:sp>
        <p:nvSpPr>
          <p:cNvPr id="9" name="Shape 7"/>
          <p:cNvSpPr/>
          <p:nvPr/>
        </p:nvSpPr>
        <p:spPr>
          <a:xfrm>
            <a:off x="3456432" y="2157984"/>
            <a:ext cx="2514600" cy="1975104"/>
          </a:xfrm>
          <a:prstGeom prst="roundRect">
            <a:avLst>
              <a:gd name="adj" fmla="val 4167"/>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0" name="Text 8"/>
          <p:cNvSpPr txBox="1"/>
          <p:nvPr/>
        </p:nvSpPr>
        <p:spPr>
          <a:xfrm>
            <a:off x="3694176" y="2377440"/>
            <a:ext cx="2039112" cy="768096"/>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0.88</a:t>
            </a:r>
            <a:pPr indent="0" marL="0">
              <a:buNone/>
            </a:pPr>
            <a:endParaRPr lang="en-US" sz="3800" dirty="0"/>
          </a:p>
        </p:txBody>
      </p:sp>
      <p:sp>
        <p:nvSpPr>
          <p:cNvPr id="11" name="Text 9"/>
          <p:cNvSpPr txBox="1"/>
          <p:nvPr/>
        </p:nvSpPr>
        <p:spPr>
          <a:xfrm>
            <a:off x="3694176" y="3200400"/>
            <a:ext cx="2039112" cy="493776"/>
          </a:xfrm>
          <a:prstGeom prst="rect">
            <a:avLst/>
          </a:prstGeom>
          <a:noFill/>
          <a:ln/>
        </p:spPr>
        <p:txBody>
          <a:bodyPr wrap="square" lIns="0" tIns="0" rIns="0" bIns="0" rtlCol="0" anchor="ctr"/>
          <a:lstStyle/>
          <a:p>
            <a:pPr indent="0" marL="0">
              <a:lnSpc>
                <a:spcPts val="1700"/>
              </a:lnSpc>
              <a:buNone/>
            </a:pPr>
            <a:r>
              <a:rPr lang="en-US" sz="1400" b="1" dirty="0">
                <a:solidFill>
                  <a:srgbClr val="0A2540"/>
                </a:solidFill>
                <a:latin typeface="Calibri" pitchFamily="34" charset="0"/>
                <a:ea typeface="Calibri" pitchFamily="34" charset="-122"/>
                <a:cs typeface="Calibri" pitchFamily="34" charset="-120"/>
              </a:rPr>
              <a:t>correlation</a:t>
            </a:r>
            <a:endParaRPr lang="en-US" sz="1400" dirty="0"/>
          </a:p>
        </p:txBody>
      </p:sp>
      <p:sp>
        <p:nvSpPr>
          <p:cNvPr id="12" name="Text 10"/>
          <p:cNvSpPr txBox="1"/>
          <p:nvPr/>
        </p:nvSpPr>
        <p:spPr>
          <a:xfrm>
            <a:off x="3694176" y="3675888"/>
            <a:ext cx="2039112" cy="402336"/>
          </a:xfrm>
          <a:prstGeom prst="rect">
            <a:avLst/>
          </a:prstGeom>
          <a:noFill/>
          <a:ln/>
        </p:spPr>
        <p:txBody>
          <a:bodyPr wrap="square" lIns="0" tIns="0" rIns="0" bIns="0" rtlCol="0" anchor="ctr"/>
          <a:lstStyle/>
          <a:p>
            <a:pPr indent="0" marL="0">
              <a:lnSpc>
                <a:spcPts val="1400"/>
              </a:lnSpc>
              <a:buNone/>
            </a:pPr>
            <a:r>
              <a:rPr lang="en-US" sz="1100" dirty="0">
                <a:solidFill>
                  <a:srgbClr val="5E7A8C"/>
                </a:solidFill>
                <a:latin typeface="Calibri" pitchFamily="34" charset="0"/>
                <a:ea typeface="Calibri" pitchFamily="34" charset="-122"/>
                <a:cs typeface="Calibri" pitchFamily="34" charset="-120"/>
              </a:rPr>
              <a:t>mean across the 15 depths</a:t>
            </a:r>
            <a:endParaRPr lang="en-US" sz="1100" dirty="0"/>
          </a:p>
        </p:txBody>
      </p:sp>
      <p:sp>
        <p:nvSpPr>
          <p:cNvPr id="13" name="Shape 11"/>
          <p:cNvSpPr/>
          <p:nvPr/>
        </p:nvSpPr>
        <p:spPr>
          <a:xfrm>
            <a:off x="6272784" y="2157984"/>
            <a:ext cx="2514600" cy="1975104"/>
          </a:xfrm>
          <a:prstGeom prst="roundRect">
            <a:avLst>
              <a:gd name="adj" fmla="val 4167"/>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4" name="Text 12"/>
          <p:cNvSpPr txBox="1"/>
          <p:nvPr/>
        </p:nvSpPr>
        <p:spPr>
          <a:xfrm>
            <a:off x="6510528" y="2377440"/>
            <a:ext cx="2039112" cy="768096"/>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+0.10</a:t>
            </a:r>
            <a:pPr indent="0" marL="0">
              <a:buNone/>
            </a:pPr>
            <a:r>
              <a:rPr lang="en-US" sz="1800" b="1" dirty="0">
                <a:solidFill>
                  <a:srgbClr val="7FC5D8"/>
                </a:solidFill>
                <a:latin typeface="Cambria" pitchFamily="34" charset="0"/>
                <a:ea typeface="Cambria" pitchFamily="34" charset="-122"/>
                <a:cs typeface="Cambria" pitchFamily="34" charset="-120"/>
              </a:rPr>
              <a:t> °C</a:t>
            </a:r>
            <a:endParaRPr lang="en-US" sz="3800" dirty="0"/>
          </a:p>
        </p:txBody>
      </p:sp>
      <p:sp>
        <p:nvSpPr>
          <p:cNvPr id="15" name="Text 13"/>
          <p:cNvSpPr txBox="1"/>
          <p:nvPr/>
        </p:nvSpPr>
        <p:spPr>
          <a:xfrm>
            <a:off x="6510528" y="3200400"/>
            <a:ext cx="2039112" cy="493776"/>
          </a:xfrm>
          <a:prstGeom prst="rect">
            <a:avLst/>
          </a:prstGeom>
          <a:noFill/>
          <a:ln/>
        </p:spPr>
        <p:txBody>
          <a:bodyPr wrap="square" lIns="0" tIns="0" rIns="0" bIns="0" rtlCol="0" anchor="ctr"/>
          <a:lstStyle/>
          <a:p>
            <a:pPr indent="0" marL="0">
              <a:lnSpc>
                <a:spcPts val="1700"/>
              </a:lnSpc>
              <a:buNone/>
            </a:pPr>
            <a:r>
              <a:rPr lang="en-US" sz="1400" b="1" dirty="0">
                <a:solidFill>
                  <a:srgbClr val="0A2540"/>
                </a:solidFill>
                <a:latin typeface="Calibri" pitchFamily="34" charset="0"/>
                <a:ea typeface="Calibri" pitchFamily="34" charset="-122"/>
                <a:cs typeface="Calibri" pitchFamily="34" charset="-120"/>
              </a:rPr>
              <a:t>bias</a:t>
            </a:r>
            <a:endParaRPr lang="en-US" sz="1400" dirty="0"/>
          </a:p>
        </p:txBody>
      </p:sp>
      <p:sp>
        <p:nvSpPr>
          <p:cNvPr id="16" name="Text 14"/>
          <p:cNvSpPr txBox="1"/>
          <p:nvPr/>
        </p:nvSpPr>
        <p:spPr>
          <a:xfrm>
            <a:off x="6510528" y="3675888"/>
            <a:ext cx="2039112" cy="402336"/>
          </a:xfrm>
          <a:prstGeom prst="rect">
            <a:avLst/>
          </a:prstGeom>
          <a:noFill/>
          <a:ln/>
        </p:spPr>
        <p:txBody>
          <a:bodyPr wrap="square" lIns="0" tIns="0" rIns="0" bIns="0" rtlCol="0" anchor="ctr"/>
          <a:lstStyle/>
          <a:p>
            <a:pPr indent="0" marL="0">
              <a:lnSpc>
                <a:spcPts val="1400"/>
              </a:lnSpc>
              <a:buNone/>
            </a:pPr>
            <a:r>
              <a:rPr lang="en-US" sz="1100" dirty="0">
                <a:solidFill>
                  <a:srgbClr val="5E7A8C"/>
                </a:solidFill>
                <a:latin typeface="Calibri" pitchFamily="34" charset="0"/>
                <a:ea typeface="Calibri" pitchFamily="34" charset="-122"/>
                <a:cs typeface="Calibri" pitchFamily="34" charset="-120"/>
              </a:rPr>
              <a:t>runs very slightly warm</a:t>
            </a:r>
            <a:endParaRPr lang="en-US" sz="1100" dirty="0"/>
          </a:p>
        </p:txBody>
      </p:sp>
      <p:sp>
        <p:nvSpPr>
          <p:cNvPr id="17" name="Shape 15"/>
          <p:cNvSpPr/>
          <p:nvPr/>
        </p:nvSpPr>
        <p:spPr>
          <a:xfrm>
            <a:off x="9089136" y="2157984"/>
            <a:ext cx="2514600" cy="1975104"/>
          </a:xfrm>
          <a:prstGeom prst="roundRect">
            <a:avLst>
              <a:gd name="adj" fmla="val 4167"/>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18" name="Text 16"/>
          <p:cNvSpPr txBox="1"/>
          <p:nvPr/>
        </p:nvSpPr>
        <p:spPr>
          <a:xfrm>
            <a:off x="9326880" y="2377440"/>
            <a:ext cx="2039112" cy="768096"/>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26%</a:t>
            </a:r>
            <a:pPr indent="0" marL="0">
              <a:buNone/>
            </a:pPr>
            <a:endParaRPr lang="en-US" sz="3800" dirty="0"/>
          </a:p>
        </p:txBody>
      </p:sp>
      <p:sp>
        <p:nvSpPr>
          <p:cNvPr id="19" name="Text 17"/>
          <p:cNvSpPr txBox="1"/>
          <p:nvPr/>
        </p:nvSpPr>
        <p:spPr>
          <a:xfrm>
            <a:off x="9326880" y="3200400"/>
            <a:ext cx="2039112" cy="493776"/>
          </a:xfrm>
          <a:prstGeom prst="rect">
            <a:avLst/>
          </a:prstGeom>
          <a:noFill/>
          <a:ln/>
        </p:spPr>
        <p:txBody>
          <a:bodyPr wrap="square" lIns="0" tIns="0" rIns="0" bIns="0" rtlCol="0" anchor="ctr"/>
          <a:lstStyle/>
          <a:p>
            <a:pPr indent="0" marL="0">
              <a:lnSpc>
                <a:spcPts val="1700"/>
              </a:lnSpc>
              <a:buNone/>
            </a:pPr>
            <a:r>
              <a:rPr lang="en-US" sz="1400" b="1" dirty="0">
                <a:solidFill>
                  <a:srgbClr val="FFFFFF"/>
                </a:solidFill>
                <a:latin typeface="Calibri" pitchFamily="34" charset="0"/>
                <a:ea typeface="Calibri" pitchFamily="34" charset="-122"/>
                <a:cs typeface="Calibri" pitchFamily="34" charset="-120"/>
              </a:rPr>
              <a:t>less error than climatology</a:t>
            </a:r>
            <a:endParaRPr lang="en-US" sz="1400" dirty="0"/>
          </a:p>
        </p:txBody>
      </p:sp>
      <p:sp>
        <p:nvSpPr>
          <p:cNvPr id="20" name="Text 18"/>
          <p:cNvSpPr txBox="1"/>
          <p:nvPr/>
        </p:nvSpPr>
        <p:spPr>
          <a:xfrm>
            <a:off x="9326880" y="3675888"/>
            <a:ext cx="2039112" cy="402336"/>
          </a:xfrm>
          <a:prstGeom prst="rect">
            <a:avLst/>
          </a:prstGeom>
          <a:noFill/>
          <a:ln/>
        </p:spPr>
        <p:txBody>
          <a:bodyPr wrap="square" lIns="0" tIns="0" rIns="0" bIns="0" rtlCol="0" anchor="ctr"/>
          <a:lstStyle/>
          <a:p>
            <a:pPr indent="0" marL="0">
              <a:lnSpc>
                <a:spcPts val="1400"/>
              </a:lnSpc>
              <a:buNone/>
            </a:pPr>
            <a:r>
              <a:rPr lang="en-US" sz="1100" dirty="0">
                <a:solidFill>
                  <a:srgbClr val="AEC7D6"/>
                </a:solidFill>
                <a:latin typeface="Calibri" pitchFamily="34" charset="0"/>
                <a:ea typeface="Calibri" pitchFamily="34" charset="-122"/>
                <a:cs typeface="Calibri" pitchFamily="34" charset="-120"/>
              </a:rPr>
              <a:t>and it wins at 14 of 15 depths</a:t>
            </a:r>
            <a:endParaRPr lang="en-US" sz="1100" dirty="0"/>
          </a:p>
        </p:txBody>
      </p:sp>
      <p:sp>
        <p:nvSpPr>
          <p:cNvPr id="21" name="Shape 19"/>
          <p:cNvSpPr/>
          <p:nvPr/>
        </p:nvSpPr>
        <p:spPr>
          <a:xfrm>
            <a:off x="640080" y="4517136"/>
            <a:ext cx="10911535" cy="1298448"/>
          </a:xfrm>
          <a:prstGeom prst="roundRect">
            <a:avLst>
              <a:gd name="adj" fmla="val 633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2" name="Text 20"/>
          <p:cNvSpPr txBox="1"/>
          <p:nvPr/>
        </p:nvSpPr>
        <p:spPr>
          <a:xfrm>
            <a:off x="932688" y="4663440"/>
            <a:ext cx="10332720" cy="292608"/>
          </a:xfrm>
          <a:prstGeom prst="rect">
            <a:avLst/>
          </a:prstGeom>
          <a:noFill/>
          <a:ln/>
        </p:spPr>
        <p:txBody>
          <a:bodyPr wrap="square" lIns="0" tIns="0" rIns="0" bIns="0" rtlCol="0" anchor="ctr"/>
          <a:lstStyle/>
          <a:p>
            <a:pPr indent="0" marL="0">
              <a:buNone/>
            </a:pPr>
            <a:r>
              <a:rPr lang="en-US" sz="1400" b="1" dirty="0">
                <a:solidFill>
                  <a:srgbClr val="0A2540"/>
                </a:solidFill>
                <a:latin typeface="Calibri" pitchFamily="34" charset="0"/>
                <a:ea typeface="Calibri" pitchFamily="34" charset="-122"/>
                <a:cs typeface="Calibri" pitchFamily="34" charset="-120"/>
              </a:rPr>
              <a:t>What is “climatology”, and why compare against it?</a:t>
            </a:r>
            <a:endParaRPr lang="en-US" sz="1400" dirty="0"/>
          </a:p>
        </p:txBody>
      </p:sp>
      <p:sp>
        <p:nvSpPr>
          <p:cNvPr id="23" name="Text 21"/>
          <p:cNvSpPr txBox="1"/>
          <p:nvPr/>
        </p:nvSpPr>
        <p:spPr>
          <a:xfrm>
            <a:off x="932688" y="4974336"/>
            <a:ext cx="10332720" cy="713232"/>
          </a:xfrm>
          <a:prstGeom prst="rect">
            <a:avLst/>
          </a:prstGeom>
          <a:noFill/>
          <a:ln/>
        </p:spPr>
        <p:txBody>
          <a:bodyPr wrap="square" lIns="0" tIns="0" rIns="0" bIns="0" rtlCol="0" anchor="ctr"/>
          <a:lstStyle/>
          <a:p>
            <a:pPr indent="0" marL="0">
              <a:lnSpc>
                <a:spcPts val="1800"/>
              </a:lnSpc>
              <a:buNone/>
            </a:pPr>
            <a:r>
              <a:rPr lang="en-US" sz="1250" dirty="0">
                <a:solidFill>
                  <a:srgbClr val="5E7A8C"/>
                </a:solidFill>
                <a:latin typeface="Calibri" pitchFamily="34" charset="0"/>
                <a:ea typeface="Calibri" pitchFamily="34" charset="-122"/>
                <a:cs typeface="Calibri" pitchFamily="34" charset="-120"/>
              </a:rPr>
              <a:t>Climatology just means “use the long-term seasonal average for this place and this time of year.” It is free, and it is already quite good. Beating it is the bar any reconstruction has to clear — and we clear it at 14 of the 15 depths.</a:t>
            </a:r>
            <a:endParaRPr lang="en-US" sz="1250" dirty="0"/>
          </a:p>
        </p:txBody>
      </p:sp>
      <p:sp>
        <p:nvSpPr>
          <p:cNvPr id="24" name="Text 22"/>
          <p:cNvSpPr txBox="1"/>
          <p:nvPr/>
        </p:nvSpPr>
        <p:spPr>
          <a:xfrm>
            <a:off x="640080" y="5998464"/>
            <a:ext cx="10911535" cy="292608"/>
          </a:xfrm>
          <a:prstGeom prst="rect">
            <a:avLst/>
          </a:prstGeom>
          <a:noFill/>
          <a:ln/>
        </p:spPr>
        <p:txBody>
          <a:bodyPr wrap="square" lIns="0" tIns="0" rIns="0" bIns="0" rtlCol="0" anchor="ctr"/>
          <a:lstStyle/>
          <a:p>
            <a:pPr indent="0" marL="0">
              <a:buNone/>
            </a:pPr>
            <a:r>
              <a:rPr lang="en-US" sz="1100" dirty="0">
                <a:solidFill>
                  <a:srgbClr val="8AA3B2"/>
                </a:solidFill>
                <a:latin typeface="Calibri" pitchFamily="34" charset="0"/>
                <a:ea typeface="Calibri" pitchFamily="34" charset="-122"/>
                <a:cs typeface="Calibri" pitchFamily="34" charset="-120"/>
              </a:rPr>
              <a:t>Trained 1 Jun 2025 – 26 Mar 2026, 5-day embargo gap  ·  tested 1 Apr – 23 Jun 2026  ·  seed 42  ·  config and checkpoint saved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RESULTS BY DEPTH</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Where it's easy, and where it's hard</a:t>
            </a:r>
            <a:endParaRPr lang="en-US" sz="3400" dirty="0"/>
          </a:p>
        </p:txBody>
      </p:sp>
      <p:graphicFrame>
        <p:nvGraphicFramePr>
          <p:cNvPr id="4" name="Chart 0" descr=""/>
          <p:cNvGraphicFramePr/>
          <p:nvPr/>
        </p:nvGraphicFramePr>
        <p:xfrm>
          <a:off x="530352" y="1572768"/>
          <a:ext cx="7699248" cy="4224528"/>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613648" y="1856232"/>
            <a:ext cx="237744" cy="237744"/>
          </a:xfrm>
          <a:prstGeom prst="ellipse">
            <a:avLst/>
          </a:prstGeom>
          <a:solidFill>
            <a:srgbClr val="F08A24"/>
          </a:solidFill>
          <a:ln w="12700">
            <a:solidFill>
              <a:srgbClr val="F08A24"/>
            </a:solidFill>
            <a:prstDash val="solid"/>
          </a:ln>
        </p:spPr>
      </p:sp>
      <p:sp>
        <p:nvSpPr>
          <p:cNvPr id="6" name="Text 3"/>
          <p:cNvSpPr txBox="1"/>
          <p:nvPr/>
        </p:nvSpPr>
        <p:spPr>
          <a:xfrm>
            <a:off x="9015984" y="1773936"/>
            <a:ext cx="2624328" cy="530352"/>
          </a:xfrm>
          <a:prstGeom prst="rect">
            <a:avLst/>
          </a:prstGeom>
          <a:noFill/>
          <a:ln/>
        </p:spPr>
        <p:txBody>
          <a:bodyPr wrap="square" lIns="0" tIns="0" rIns="0" bIns="0" rtlCol="0" anchor="ctr"/>
          <a:lstStyle/>
          <a:p>
            <a:pPr indent="0" marL="0">
              <a:lnSpc>
                <a:spcPts val="1700"/>
              </a:lnSpc>
              <a:buNone/>
            </a:pPr>
            <a:r>
              <a:rPr lang="en-US" sz="1350" b="1" dirty="0">
                <a:solidFill>
                  <a:srgbClr val="0A2540"/>
                </a:solidFill>
                <a:latin typeface="Calibri" pitchFamily="34" charset="0"/>
                <a:ea typeface="Calibri" pitchFamily="34" charset="-122"/>
                <a:cs typeface="Calibri" pitchFamily="34" charset="-120"/>
              </a:rPr>
              <a:t>Best at the top and the bottom</a:t>
            </a:r>
            <a:endParaRPr lang="en-US" sz="1350" dirty="0"/>
          </a:p>
        </p:txBody>
      </p:sp>
      <p:sp>
        <p:nvSpPr>
          <p:cNvPr id="7" name="Text 4"/>
          <p:cNvSpPr txBox="1"/>
          <p:nvPr/>
        </p:nvSpPr>
        <p:spPr>
          <a:xfrm>
            <a:off x="9015984" y="2322576"/>
            <a:ext cx="2624328" cy="914400"/>
          </a:xfrm>
          <a:prstGeom prst="rect">
            <a:avLst/>
          </a:prstGeom>
          <a:noFill/>
          <a:ln/>
        </p:spPr>
        <p:txBody>
          <a:bodyPr wrap="square" lIns="0" tIns="0" rIns="0" bIns="0" rtlCol="0" anchor="ctr"/>
          <a:lstStyle/>
          <a:p>
            <a:pPr indent="0" marL="0">
              <a:lnSpc>
                <a:spcPts val="1500"/>
              </a:lnSpc>
              <a:buNone/>
            </a:pPr>
            <a:r>
              <a:rPr lang="en-US" sz="1150" dirty="0">
                <a:solidFill>
                  <a:srgbClr val="5E7A8C"/>
                </a:solidFill>
                <a:latin typeface="Calibri" pitchFamily="34" charset="0"/>
                <a:ea typeface="Calibri" pitchFamily="34" charset="-122"/>
                <a:cs typeface="Calibri" pitchFamily="34" charset="-120"/>
              </a:rPr>
              <a:t>0.41 °C at the surface and 0.31 °C at 1000 m — the surface is observed, and the deep ocean barely changes.</a:t>
            </a:r>
            <a:endParaRPr lang="en-US" sz="1150" dirty="0"/>
          </a:p>
        </p:txBody>
      </p:sp>
      <p:sp>
        <p:nvSpPr>
          <p:cNvPr id="8" name="Shape 5"/>
          <p:cNvSpPr/>
          <p:nvPr/>
        </p:nvSpPr>
        <p:spPr>
          <a:xfrm>
            <a:off x="8613648" y="3337560"/>
            <a:ext cx="237744" cy="237744"/>
          </a:xfrm>
          <a:prstGeom prst="ellipse">
            <a:avLst/>
          </a:prstGeom>
          <a:solidFill>
            <a:srgbClr val="F08A24"/>
          </a:solidFill>
          <a:ln w="12700">
            <a:solidFill>
              <a:srgbClr val="F08A24"/>
            </a:solidFill>
            <a:prstDash val="solid"/>
          </a:ln>
        </p:spPr>
      </p:sp>
      <p:sp>
        <p:nvSpPr>
          <p:cNvPr id="9" name="Text 6"/>
          <p:cNvSpPr txBox="1"/>
          <p:nvPr/>
        </p:nvSpPr>
        <p:spPr>
          <a:xfrm>
            <a:off x="9015984" y="3255264"/>
            <a:ext cx="2624328" cy="530352"/>
          </a:xfrm>
          <a:prstGeom prst="rect">
            <a:avLst/>
          </a:prstGeom>
          <a:noFill/>
          <a:ln/>
        </p:spPr>
        <p:txBody>
          <a:bodyPr wrap="square" lIns="0" tIns="0" rIns="0" bIns="0" rtlCol="0" anchor="ctr"/>
          <a:lstStyle/>
          <a:p>
            <a:pPr indent="0" marL="0">
              <a:lnSpc>
                <a:spcPts val="1700"/>
              </a:lnSpc>
              <a:buNone/>
            </a:pPr>
            <a:r>
              <a:rPr lang="en-US" sz="1350" b="1" dirty="0">
                <a:solidFill>
                  <a:srgbClr val="0A2540"/>
                </a:solidFill>
                <a:latin typeface="Calibri" pitchFamily="34" charset="0"/>
                <a:ea typeface="Calibri" pitchFamily="34" charset="-122"/>
                <a:cs typeface="Calibri" pitchFamily="34" charset="-120"/>
              </a:rPr>
              <a:t>Hardest at 50–150 m</a:t>
            </a:r>
            <a:endParaRPr lang="en-US" sz="1350" dirty="0"/>
          </a:p>
        </p:txBody>
      </p:sp>
      <p:sp>
        <p:nvSpPr>
          <p:cNvPr id="10" name="Text 7"/>
          <p:cNvSpPr txBox="1"/>
          <p:nvPr/>
        </p:nvSpPr>
        <p:spPr>
          <a:xfrm>
            <a:off x="9015984" y="3803904"/>
            <a:ext cx="2624328" cy="914400"/>
          </a:xfrm>
          <a:prstGeom prst="rect">
            <a:avLst/>
          </a:prstGeom>
          <a:noFill/>
          <a:ln/>
        </p:spPr>
        <p:txBody>
          <a:bodyPr wrap="square" lIns="0" tIns="0" rIns="0" bIns="0" rtlCol="0" anchor="ctr"/>
          <a:lstStyle/>
          <a:p>
            <a:pPr indent="0" marL="0">
              <a:lnSpc>
                <a:spcPts val="1500"/>
              </a:lnSpc>
              <a:buNone/>
            </a:pPr>
            <a:r>
              <a:rPr lang="en-US" sz="1150" dirty="0">
                <a:solidFill>
                  <a:srgbClr val="5E7A8C"/>
                </a:solidFill>
                <a:latin typeface="Calibri" pitchFamily="34" charset="0"/>
                <a:ea typeface="Calibri" pitchFamily="34" charset="-122"/>
                <a:cs typeface="Calibri" pitchFamily="34" charset="-120"/>
              </a:rPr>
              <a:t>1.1–1.2 °C in the thermocline, where temperature falls fastest, so a small error in depth becomes a large error in degrees.</a:t>
            </a:r>
            <a:endParaRPr lang="en-US" sz="1150" dirty="0"/>
          </a:p>
        </p:txBody>
      </p:sp>
      <p:sp>
        <p:nvSpPr>
          <p:cNvPr id="11" name="Shape 8"/>
          <p:cNvSpPr/>
          <p:nvPr/>
        </p:nvSpPr>
        <p:spPr>
          <a:xfrm>
            <a:off x="8613648" y="4818888"/>
            <a:ext cx="237744" cy="237744"/>
          </a:xfrm>
          <a:prstGeom prst="ellipse">
            <a:avLst/>
          </a:prstGeom>
          <a:solidFill>
            <a:srgbClr val="F08A24"/>
          </a:solidFill>
          <a:ln w="12700">
            <a:solidFill>
              <a:srgbClr val="F08A24"/>
            </a:solidFill>
            <a:prstDash val="solid"/>
          </a:ln>
        </p:spPr>
      </p:sp>
      <p:sp>
        <p:nvSpPr>
          <p:cNvPr id="12" name="Text 9"/>
          <p:cNvSpPr txBox="1"/>
          <p:nvPr/>
        </p:nvSpPr>
        <p:spPr>
          <a:xfrm>
            <a:off x="9015984" y="4736592"/>
            <a:ext cx="2624328" cy="530352"/>
          </a:xfrm>
          <a:prstGeom prst="rect">
            <a:avLst/>
          </a:prstGeom>
          <a:noFill/>
          <a:ln/>
        </p:spPr>
        <p:txBody>
          <a:bodyPr wrap="square" lIns="0" tIns="0" rIns="0" bIns="0" rtlCol="0" anchor="ctr"/>
          <a:lstStyle/>
          <a:p>
            <a:pPr indent="0" marL="0">
              <a:lnSpc>
                <a:spcPts val="1700"/>
              </a:lnSpc>
              <a:buNone/>
            </a:pPr>
            <a:r>
              <a:rPr lang="en-US" sz="1350" b="1" dirty="0">
                <a:solidFill>
                  <a:srgbClr val="0A2540"/>
                </a:solidFill>
                <a:latin typeface="Calibri" pitchFamily="34" charset="0"/>
                <a:ea typeface="Calibri" pitchFamily="34" charset="-122"/>
                <a:cs typeface="Calibri" pitchFamily="34" charset="-120"/>
              </a:rPr>
              <a:t>Lower than climatology at 14 of 15</a:t>
            </a:r>
            <a:endParaRPr lang="en-US" sz="1350" dirty="0"/>
          </a:p>
        </p:txBody>
      </p:sp>
      <p:sp>
        <p:nvSpPr>
          <p:cNvPr id="13" name="Text 10"/>
          <p:cNvSpPr txBox="1"/>
          <p:nvPr/>
        </p:nvSpPr>
        <p:spPr>
          <a:xfrm>
            <a:off x="9015984" y="5285232"/>
            <a:ext cx="2624328" cy="914400"/>
          </a:xfrm>
          <a:prstGeom prst="rect">
            <a:avLst/>
          </a:prstGeom>
          <a:noFill/>
          <a:ln/>
        </p:spPr>
        <p:txBody>
          <a:bodyPr wrap="square" lIns="0" tIns="0" rIns="0" bIns="0" rtlCol="0" anchor="ctr"/>
          <a:lstStyle/>
          <a:p>
            <a:pPr indent="0" marL="0">
              <a:lnSpc>
                <a:spcPts val="1500"/>
              </a:lnSpc>
              <a:buNone/>
            </a:pPr>
            <a:r>
              <a:rPr lang="en-US" sz="1150" dirty="0">
                <a:solidFill>
                  <a:srgbClr val="5E7A8C"/>
                </a:solidFill>
                <a:latin typeface="Calibri" pitchFamily="34" charset="0"/>
                <a:ea typeface="Calibri" pitchFamily="34" charset="-122"/>
                <a:cs typeface="Calibri" pitchFamily="34" charset="-120"/>
              </a:rPr>
              <a:t>The teal bar is shorter than the grey bar at 14 of the 15 depths. At 1000 m the seasonal average wins by 0.012 °C, and the chart labels it.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UNCERTAINTY</a:t>
            </a:r>
            <a:endParaRPr lang="en-US" sz="1100" dirty="0"/>
          </a:p>
        </p:txBody>
      </p:sp>
      <p:sp>
        <p:nvSpPr>
          <p:cNvPr id="3" name="Text 1"/>
          <p:cNvSpPr txBox="1"/>
          <p:nvPr/>
        </p:nvSpPr>
        <p:spPr>
          <a:xfrm>
            <a:off x="640080" y="676656"/>
            <a:ext cx="7680960"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Every number comes with a ±</a:t>
            </a:r>
            <a:endParaRPr lang="en-US" sz="3400" dirty="0"/>
          </a:p>
        </p:txBody>
      </p:sp>
      <p:sp>
        <p:nvSpPr>
          <p:cNvPr id="4" name="Shape 2"/>
          <p:cNvSpPr/>
          <p:nvPr/>
        </p:nvSpPr>
        <p:spPr>
          <a:xfrm>
            <a:off x="640080" y="1865376"/>
            <a:ext cx="274320" cy="274320"/>
          </a:xfrm>
          <a:prstGeom prst="ellipse">
            <a:avLst/>
          </a:prstGeom>
          <a:solidFill>
            <a:srgbClr val="1C7293"/>
          </a:solidFill>
          <a:ln w="12700">
            <a:solidFill>
              <a:srgbClr val="1C7293"/>
            </a:solidFill>
            <a:prstDash val="solid"/>
          </a:ln>
        </p:spPr>
      </p:sp>
      <p:sp>
        <p:nvSpPr>
          <p:cNvPr id="5" name="Text 3"/>
          <p:cNvSpPr txBox="1"/>
          <p:nvPr/>
        </p:nvSpPr>
        <p:spPr>
          <a:xfrm>
            <a:off x="1115568" y="1810512"/>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The model predicts a spread, not just a value.</a:t>
            </a:r>
            <a:endParaRPr lang="en-US" sz="1500" dirty="0"/>
          </a:p>
        </p:txBody>
      </p:sp>
      <p:sp>
        <p:nvSpPr>
          <p:cNvPr id="6" name="Text 4"/>
          <p:cNvSpPr txBox="1"/>
          <p:nvPr/>
        </p:nvSpPr>
        <p:spPr>
          <a:xfrm>
            <a:off x="1115568" y="2157984"/>
            <a:ext cx="6263640" cy="749808"/>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Temperature and uncertainty are trained together, so a confident prediction and a shaky one do not look the same on the map.</a:t>
            </a:r>
            <a:endParaRPr lang="en-US" sz="1250" dirty="0"/>
          </a:p>
        </p:txBody>
      </p:sp>
      <p:sp>
        <p:nvSpPr>
          <p:cNvPr id="7" name="Shape 5"/>
          <p:cNvSpPr/>
          <p:nvPr/>
        </p:nvSpPr>
        <p:spPr>
          <a:xfrm>
            <a:off x="640080" y="3182112"/>
            <a:ext cx="274320" cy="274320"/>
          </a:xfrm>
          <a:prstGeom prst="ellipse">
            <a:avLst/>
          </a:prstGeom>
          <a:solidFill>
            <a:srgbClr val="1C7293"/>
          </a:solidFill>
          <a:ln w="12700">
            <a:solidFill>
              <a:srgbClr val="1C7293"/>
            </a:solidFill>
            <a:prstDash val="solid"/>
          </a:ln>
        </p:spPr>
      </p:sp>
      <p:sp>
        <p:nvSpPr>
          <p:cNvPr id="8" name="Text 6"/>
          <p:cNvSpPr txBox="1"/>
          <p:nvPr/>
        </p:nvSpPr>
        <p:spPr>
          <a:xfrm>
            <a:off x="1115568" y="3127248"/>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The spread is checked against reality.</a:t>
            </a:r>
            <a:endParaRPr lang="en-US" sz="1500" dirty="0"/>
          </a:p>
        </p:txBody>
      </p:sp>
      <p:sp>
        <p:nvSpPr>
          <p:cNvPr id="9" name="Text 7"/>
          <p:cNvSpPr txBox="1"/>
          <p:nvPr/>
        </p:nvSpPr>
        <p:spPr>
          <a:xfrm>
            <a:off x="1115568" y="3474720"/>
            <a:ext cx="6263640" cy="749808"/>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We compare the predicted band against the errors the model actually made on real float profiles, depth by depth — which is how we know it is not right yet.</a:t>
            </a:r>
            <a:endParaRPr lang="en-US" sz="1250" dirty="0"/>
          </a:p>
        </p:txBody>
      </p:sp>
      <p:sp>
        <p:nvSpPr>
          <p:cNvPr id="10" name="Shape 8"/>
          <p:cNvSpPr/>
          <p:nvPr/>
        </p:nvSpPr>
        <p:spPr>
          <a:xfrm>
            <a:off x="640080" y="4498848"/>
            <a:ext cx="274320" cy="274320"/>
          </a:xfrm>
          <a:prstGeom prst="ellipse">
            <a:avLst/>
          </a:prstGeom>
          <a:solidFill>
            <a:srgbClr val="1C7293"/>
          </a:solidFill>
          <a:ln w="12700">
            <a:solidFill>
              <a:srgbClr val="1C7293"/>
            </a:solidFill>
            <a:prstDash val="solid"/>
          </a:ln>
        </p:spPr>
      </p:sp>
      <p:sp>
        <p:nvSpPr>
          <p:cNvPr id="11" name="Text 9"/>
          <p:cNvSpPr txBox="1"/>
          <p:nvPr/>
        </p:nvSpPr>
        <p:spPr>
          <a:xfrm>
            <a:off x="1115568" y="4443984"/>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It tells you where NOT to trust it.</a:t>
            </a:r>
            <a:endParaRPr lang="en-US" sz="1500" dirty="0"/>
          </a:p>
        </p:txBody>
      </p:sp>
      <p:sp>
        <p:nvSpPr>
          <p:cNvPr id="12" name="Text 10"/>
          <p:cNvSpPr txBox="1"/>
          <p:nvPr/>
        </p:nvSpPr>
        <p:spPr>
          <a:xfrm>
            <a:off x="1115568" y="4791456"/>
            <a:ext cx="6263640" cy="749808"/>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That is what makes the output usable operationally — and it points at where the next float should go.</a:t>
            </a:r>
            <a:endParaRPr lang="en-US" sz="1250" dirty="0"/>
          </a:p>
        </p:txBody>
      </p:sp>
      <p:sp>
        <p:nvSpPr>
          <p:cNvPr id="13" name="Shape 11"/>
          <p:cNvSpPr/>
          <p:nvPr/>
        </p:nvSpPr>
        <p:spPr>
          <a:xfrm>
            <a:off x="7498080" y="1810512"/>
            <a:ext cx="4050792" cy="3182112"/>
          </a:xfrm>
          <a:prstGeom prst="roundRect">
            <a:avLst>
              <a:gd name="adj" fmla="val 2586"/>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4" name="Text 12"/>
          <p:cNvSpPr txBox="1"/>
          <p:nvPr/>
        </p:nvSpPr>
        <p:spPr>
          <a:xfrm>
            <a:off x="7790688" y="2048256"/>
            <a:ext cx="3465576" cy="237744"/>
          </a:xfrm>
          <a:prstGeom prst="rect">
            <a:avLst/>
          </a:prstGeom>
          <a:noFill/>
          <a:ln/>
        </p:spPr>
        <p:txBody>
          <a:bodyPr wrap="square" lIns="0" tIns="0" rIns="0" bIns="0" rtlCol="0" anchor="ctr"/>
          <a:lstStyle/>
          <a:p>
            <a:pPr indent="0" marL="0">
              <a:buNone/>
            </a:pPr>
            <a:r>
              <a:rPr lang="en-US" sz="1000" b="1" spc="200" kern="0" dirty="0">
                <a:solidFill>
                  <a:srgbClr val="F08A24"/>
                </a:solidFill>
                <a:latin typeface="Calibri" pitchFamily="34" charset="0"/>
                <a:ea typeface="Calibri" pitchFamily="34" charset="-122"/>
                <a:cs typeface="Calibri" pitchFamily="34" charset="-120"/>
              </a:rPr>
              <a:t>STILL IMPERFECT</a:t>
            </a:r>
            <a:endParaRPr lang="en-US" sz="1000" dirty="0"/>
          </a:p>
        </p:txBody>
      </p:sp>
      <p:sp>
        <p:nvSpPr>
          <p:cNvPr id="15" name="Text 13"/>
          <p:cNvSpPr txBox="1"/>
          <p:nvPr/>
        </p:nvSpPr>
        <p:spPr>
          <a:xfrm>
            <a:off x="7790688" y="2304288"/>
            <a:ext cx="3465576" cy="731520"/>
          </a:xfrm>
          <a:prstGeom prst="rect">
            <a:avLst/>
          </a:prstGeom>
          <a:noFill/>
          <a:ln/>
        </p:spPr>
        <p:txBody>
          <a:bodyPr wrap="square" lIns="0" tIns="0" rIns="0" bIns="0" rtlCol="0" anchor="ctr"/>
          <a:lstStyle/>
          <a:p>
            <a:pPr indent="0" marL="0">
              <a:buNone/>
            </a:pPr>
            <a:r>
              <a:rPr lang="en-US" sz="4200" b="1" dirty="0">
                <a:solidFill>
                  <a:srgbClr val="0A2540"/>
                </a:solidFill>
                <a:latin typeface="Cambria" pitchFamily="34" charset="0"/>
                <a:ea typeface="Cambria" pitchFamily="34" charset="-122"/>
                <a:cs typeface="Cambria" pitchFamily="34" charset="-120"/>
              </a:rPr>
              <a:t>57%</a:t>
            </a:r>
            <a:endParaRPr lang="en-US" sz="4200" dirty="0"/>
          </a:p>
        </p:txBody>
      </p:sp>
      <p:sp>
        <p:nvSpPr>
          <p:cNvPr id="16" name="Text 14"/>
          <p:cNvSpPr txBox="1"/>
          <p:nvPr/>
        </p:nvSpPr>
        <p:spPr>
          <a:xfrm>
            <a:off x="7790688" y="3108960"/>
            <a:ext cx="3465576" cy="1005840"/>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of true values fall inside the ±1σ band at 5 m depth, where 68% is the target. The band is still too narrow through the thermocline.</a:t>
            </a:r>
            <a:endParaRPr lang="en-US" sz="1250" dirty="0"/>
          </a:p>
        </p:txBody>
      </p:sp>
      <p:sp>
        <p:nvSpPr>
          <p:cNvPr id="17" name="Text 15"/>
          <p:cNvSpPr txBox="1"/>
          <p:nvPr/>
        </p:nvSpPr>
        <p:spPr>
          <a:xfrm>
            <a:off x="7790688" y="4187952"/>
            <a:ext cx="3465576" cy="585216"/>
          </a:xfrm>
          <a:prstGeom prst="rect">
            <a:avLst/>
          </a:prstGeom>
          <a:noFill/>
          <a:ln/>
        </p:spPr>
        <p:txBody>
          <a:bodyPr wrap="square" lIns="0" tIns="0" rIns="0" bIns="0" rtlCol="0" anchor="ctr"/>
          <a:lstStyle/>
          <a:p>
            <a:pPr indent="0" marL="0">
              <a:lnSpc>
                <a:spcPts val="1700"/>
              </a:lnSpc>
              <a:buNone/>
            </a:pPr>
            <a:r>
              <a:rPr lang="en-US" sz="1250" b="1" dirty="0">
                <a:solidFill>
                  <a:srgbClr val="1C7293"/>
                </a:solidFill>
                <a:latin typeface="Calibri" pitchFamily="34" charset="0"/>
                <a:ea typeface="Calibri" pitchFamily="34" charset="-122"/>
                <a:cs typeface="Calibri" pitchFamily="34" charset="-120"/>
              </a:rPr>
              <a:t>We report this rather than quietly widening it.</a:t>
            </a:r>
            <a:endParaRPr lang="en-US" sz="1250" dirty="0"/>
          </a:p>
        </p:txBody>
      </p:sp>
      <p:sp>
        <p:nvSpPr>
          <p:cNvPr id="18" name="Text 16"/>
          <p:cNvSpPr txBox="1"/>
          <p:nvPr/>
        </p:nvSpPr>
        <p:spPr>
          <a:xfrm>
            <a:off x="640080" y="5797296"/>
            <a:ext cx="10881360" cy="365760"/>
          </a:xfrm>
          <a:prstGeom prst="rect">
            <a:avLst/>
          </a:prstGeom>
          <a:noFill/>
          <a:ln/>
        </p:spPr>
        <p:txBody>
          <a:bodyPr wrap="square" lIns="0" tIns="0" rIns="0" bIns="0" rtlCol="0" anchor="ctr"/>
          <a:lstStyle/>
          <a:p>
            <a:pPr indent="0" marL="0">
              <a:buNone/>
            </a:pPr>
            <a:r>
              <a:rPr lang="en-US" sz="1250" i="1" dirty="0">
                <a:solidFill>
                  <a:srgbClr val="5E7A8C"/>
                </a:solidFill>
                <a:latin typeface="Calibri" pitchFamily="34" charset="0"/>
                <a:ea typeface="Calibri" pitchFamily="34" charset="-122"/>
                <a:cs typeface="Calibri" pitchFamily="34" charset="-120"/>
              </a:rPr>
              <a:t>Better than the MC-dropout alternative, which we measured and rejected — but not finished. Recalibration ran on 2 Sep; the band is improved, not calibrated.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IMPACT</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Where it works, and why that matters</a:t>
            </a:r>
            <a:endParaRPr lang="en-US" sz="3400" dirty="0"/>
          </a:p>
        </p:txBody>
      </p:sp>
      <p:sp>
        <p:nvSpPr>
          <p:cNvPr id="4" name="Shape 2"/>
          <p:cNvSpPr/>
          <p:nvPr/>
        </p:nvSpPr>
        <p:spPr>
          <a:xfrm>
            <a:off x="640080" y="1700784"/>
            <a:ext cx="4160520" cy="4133088"/>
          </a:xfrm>
          <a:prstGeom prst="roundRect">
            <a:avLst>
              <a:gd name="adj" fmla="val 1991"/>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5" name="Text 3"/>
          <p:cNvSpPr txBox="1"/>
          <p:nvPr/>
        </p:nvSpPr>
        <p:spPr>
          <a:xfrm>
            <a:off x="950976" y="1956816"/>
            <a:ext cx="3566160" cy="256032"/>
          </a:xfrm>
          <a:prstGeom prst="rect">
            <a:avLst/>
          </a:prstGeom>
          <a:noFill/>
          <a:ln/>
        </p:spPr>
        <p:txBody>
          <a:bodyPr wrap="square" lIns="0" tIns="0" rIns="0" bIns="0" rtlCol="0" anchor="ctr"/>
          <a:lstStyle/>
          <a:p>
            <a:pPr indent="0" marL="0">
              <a:buNone/>
            </a:pPr>
            <a:r>
              <a:rPr lang="en-US" sz="1000" b="1" spc="200" kern="0" dirty="0">
                <a:solidFill>
                  <a:srgbClr val="7FC5D8"/>
                </a:solidFill>
                <a:latin typeface="Calibri" pitchFamily="34" charset="0"/>
                <a:ea typeface="Calibri" pitchFamily="34" charset="-122"/>
                <a:cs typeface="Calibri" pitchFamily="34" charset="-120"/>
              </a:rPr>
              <a:t>NORTH INDIAN OCEAN</a:t>
            </a:r>
            <a:endParaRPr lang="en-US" sz="1000" dirty="0"/>
          </a:p>
        </p:txBody>
      </p:sp>
      <p:sp>
        <p:nvSpPr>
          <p:cNvPr id="6" name="Text 4"/>
          <p:cNvSpPr txBox="1"/>
          <p:nvPr/>
        </p:nvSpPr>
        <p:spPr>
          <a:xfrm>
            <a:off x="950976" y="2249424"/>
            <a:ext cx="3566160" cy="1060704"/>
          </a:xfrm>
          <a:prstGeom prst="rect">
            <a:avLst/>
          </a:prstGeom>
          <a:noFill/>
          <a:ln/>
        </p:spPr>
        <p:txBody>
          <a:bodyPr wrap="square" lIns="0" tIns="0" rIns="0" bIns="0" rtlCol="0" anchor="ctr"/>
          <a:lstStyle/>
          <a:p>
            <a:pPr indent="0" marL="0">
              <a:lnSpc>
                <a:spcPts val="3200"/>
              </a:lnSpc>
              <a:buNone/>
            </a:pPr>
            <a:r>
              <a:rPr lang="en-US" sz="2500" b="1" dirty="0">
                <a:solidFill>
                  <a:srgbClr val="FFFFFF"/>
                </a:solidFill>
                <a:latin typeface="Cambria" pitchFamily="34" charset="0"/>
                <a:ea typeface="Cambria" pitchFamily="34" charset="-122"/>
                <a:cs typeface="Cambria" pitchFamily="34" charset="-120"/>
              </a:rPr>
              <a:t>Arabian Sea</a:t>
            </a:r>
            <a:endParaRPr lang="en-US" sz="2500" dirty="0"/>
          </a:p>
          <a:p>
            <a:pPr indent="0" marL="0">
              <a:lnSpc>
                <a:spcPts val="3200"/>
              </a:lnSpc>
              <a:buNone/>
            </a:pPr>
            <a:r>
              <a:rPr lang="en-US" sz="2500" b="1" dirty="0">
                <a:solidFill>
                  <a:srgbClr val="FFFFFF"/>
                </a:solidFill>
                <a:latin typeface="Cambria" pitchFamily="34" charset="0"/>
                <a:ea typeface="Cambria" pitchFamily="34" charset="-122"/>
                <a:cs typeface="Cambria" pitchFamily="34" charset="-120"/>
              </a:rPr>
              <a:t>+ Bay of Bengal</a:t>
            </a:r>
            <a:endParaRPr lang="en-US" sz="2500" dirty="0"/>
          </a:p>
        </p:txBody>
      </p:sp>
      <p:sp>
        <p:nvSpPr>
          <p:cNvPr id="7" name="Text 5"/>
          <p:cNvSpPr txBox="1"/>
          <p:nvPr/>
        </p:nvSpPr>
        <p:spPr>
          <a:xfrm>
            <a:off x="950976" y="3474720"/>
            <a:ext cx="1371600" cy="274320"/>
          </a:xfrm>
          <a:prstGeom prst="rect">
            <a:avLst/>
          </a:prstGeom>
          <a:noFill/>
          <a:ln/>
        </p:spPr>
        <p:txBody>
          <a:bodyPr wrap="square" lIns="0" tIns="0" rIns="0" bIns="0" rtlCol="0" anchor="ctr"/>
          <a:lstStyle/>
          <a:p>
            <a:pPr indent="0" marL="0">
              <a:buNone/>
            </a:pPr>
            <a:r>
              <a:rPr lang="en-US" sz="1150" dirty="0">
                <a:solidFill>
                  <a:srgbClr val="9DB7C6"/>
                </a:solidFill>
                <a:latin typeface="Calibri" pitchFamily="34" charset="0"/>
                <a:ea typeface="Calibri" pitchFamily="34" charset="-122"/>
                <a:cs typeface="Calibri" pitchFamily="34" charset="-120"/>
              </a:rPr>
              <a:t>Coverage</a:t>
            </a:r>
            <a:endParaRPr lang="en-US" sz="1150" dirty="0"/>
          </a:p>
        </p:txBody>
      </p:sp>
      <p:sp>
        <p:nvSpPr>
          <p:cNvPr id="8" name="Text 6"/>
          <p:cNvSpPr txBox="1"/>
          <p:nvPr/>
        </p:nvSpPr>
        <p:spPr>
          <a:xfrm>
            <a:off x="2322576" y="3474720"/>
            <a:ext cx="2194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5–30°N, 45–105°E</a:t>
            </a:r>
            <a:endParaRPr lang="en-US" sz="1250" dirty="0"/>
          </a:p>
        </p:txBody>
      </p:sp>
      <p:sp>
        <p:nvSpPr>
          <p:cNvPr id="9" name="Text 7"/>
          <p:cNvSpPr txBox="1"/>
          <p:nvPr/>
        </p:nvSpPr>
        <p:spPr>
          <a:xfrm>
            <a:off x="950976" y="4005072"/>
            <a:ext cx="1371600" cy="274320"/>
          </a:xfrm>
          <a:prstGeom prst="rect">
            <a:avLst/>
          </a:prstGeom>
          <a:noFill/>
          <a:ln/>
        </p:spPr>
        <p:txBody>
          <a:bodyPr wrap="square" lIns="0" tIns="0" rIns="0" bIns="0" rtlCol="0" anchor="ctr"/>
          <a:lstStyle/>
          <a:p>
            <a:pPr indent="0" marL="0">
              <a:buNone/>
            </a:pPr>
            <a:r>
              <a:rPr lang="en-US" sz="1150" dirty="0">
                <a:solidFill>
                  <a:srgbClr val="9DB7C6"/>
                </a:solidFill>
                <a:latin typeface="Calibri" pitchFamily="34" charset="0"/>
                <a:ea typeface="Calibri" pitchFamily="34" charset="-122"/>
                <a:cs typeface="Calibri" pitchFamily="34" charset="-120"/>
              </a:rPr>
              <a:t>Resolution</a:t>
            </a:r>
            <a:endParaRPr lang="en-US" sz="1150" dirty="0"/>
          </a:p>
        </p:txBody>
      </p:sp>
      <p:sp>
        <p:nvSpPr>
          <p:cNvPr id="10" name="Text 8"/>
          <p:cNvSpPr txBox="1"/>
          <p:nvPr/>
        </p:nvSpPr>
        <p:spPr>
          <a:xfrm>
            <a:off x="2322576" y="4005072"/>
            <a:ext cx="2194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0.25°, daily</a:t>
            </a:r>
            <a:endParaRPr lang="en-US" sz="1250" dirty="0"/>
          </a:p>
        </p:txBody>
      </p:sp>
      <p:sp>
        <p:nvSpPr>
          <p:cNvPr id="11" name="Text 9"/>
          <p:cNvSpPr txBox="1"/>
          <p:nvPr/>
        </p:nvSpPr>
        <p:spPr>
          <a:xfrm>
            <a:off x="950976" y="4535424"/>
            <a:ext cx="1371600" cy="274320"/>
          </a:xfrm>
          <a:prstGeom prst="rect">
            <a:avLst/>
          </a:prstGeom>
          <a:noFill/>
          <a:ln/>
        </p:spPr>
        <p:txBody>
          <a:bodyPr wrap="square" lIns="0" tIns="0" rIns="0" bIns="0" rtlCol="0" anchor="ctr"/>
          <a:lstStyle/>
          <a:p>
            <a:pPr indent="0" marL="0">
              <a:buNone/>
            </a:pPr>
            <a:r>
              <a:rPr lang="en-US" sz="1150" dirty="0">
                <a:solidFill>
                  <a:srgbClr val="9DB7C6"/>
                </a:solidFill>
                <a:latin typeface="Calibri" pitchFamily="34" charset="0"/>
                <a:ea typeface="Calibri" pitchFamily="34" charset="-122"/>
                <a:cs typeface="Calibri" pitchFamily="34" charset="-120"/>
              </a:rPr>
              <a:t>Grid</a:t>
            </a:r>
            <a:endParaRPr lang="en-US" sz="1150" dirty="0"/>
          </a:p>
        </p:txBody>
      </p:sp>
      <p:sp>
        <p:nvSpPr>
          <p:cNvPr id="12" name="Text 10"/>
          <p:cNvSpPr txBox="1"/>
          <p:nvPr/>
        </p:nvSpPr>
        <p:spPr>
          <a:xfrm>
            <a:off x="2322576" y="4535424"/>
            <a:ext cx="2194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100 × 240 cells</a:t>
            </a:r>
            <a:endParaRPr lang="en-US" sz="1250" dirty="0"/>
          </a:p>
        </p:txBody>
      </p:sp>
      <p:sp>
        <p:nvSpPr>
          <p:cNvPr id="13" name="Text 11"/>
          <p:cNvSpPr txBox="1"/>
          <p:nvPr/>
        </p:nvSpPr>
        <p:spPr>
          <a:xfrm>
            <a:off x="950976" y="5065776"/>
            <a:ext cx="1371600" cy="274320"/>
          </a:xfrm>
          <a:prstGeom prst="rect">
            <a:avLst/>
          </a:prstGeom>
          <a:noFill/>
          <a:ln/>
        </p:spPr>
        <p:txBody>
          <a:bodyPr wrap="square" lIns="0" tIns="0" rIns="0" bIns="0" rtlCol="0" anchor="ctr"/>
          <a:lstStyle/>
          <a:p>
            <a:pPr indent="0" marL="0">
              <a:buNone/>
            </a:pPr>
            <a:r>
              <a:rPr lang="en-US" sz="1150" dirty="0">
                <a:solidFill>
                  <a:srgbClr val="9DB7C6"/>
                </a:solidFill>
                <a:latin typeface="Calibri" pitchFamily="34" charset="0"/>
                <a:ea typeface="Calibri" pitchFamily="34" charset="-122"/>
                <a:cs typeface="Calibri" pitchFamily="34" charset="-120"/>
              </a:rPr>
              <a:t>Depth</a:t>
            </a:r>
            <a:endParaRPr lang="en-US" sz="1150" dirty="0"/>
          </a:p>
        </p:txBody>
      </p:sp>
      <p:sp>
        <p:nvSpPr>
          <p:cNvPr id="14" name="Text 12"/>
          <p:cNvSpPr txBox="1"/>
          <p:nvPr/>
        </p:nvSpPr>
        <p:spPr>
          <a:xfrm>
            <a:off x="2322576" y="5065776"/>
            <a:ext cx="2194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surface to 1000 m</a:t>
            </a:r>
            <a:endParaRPr lang="en-US" sz="1250" dirty="0"/>
          </a:p>
        </p:txBody>
      </p:sp>
      <p:sp>
        <p:nvSpPr>
          <p:cNvPr id="15" name="Shape 13"/>
          <p:cNvSpPr/>
          <p:nvPr/>
        </p:nvSpPr>
        <p:spPr>
          <a:xfrm>
            <a:off x="5285232" y="1700784"/>
            <a:ext cx="6263640" cy="1261872"/>
          </a:xfrm>
          <a:prstGeom prst="roundRect">
            <a:avLst>
              <a:gd name="adj" fmla="val 652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6" name="Shape 14"/>
          <p:cNvSpPr/>
          <p:nvPr/>
        </p:nvSpPr>
        <p:spPr>
          <a:xfrm>
            <a:off x="5541264" y="2093976"/>
            <a:ext cx="475488" cy="475488"/>
          </a:xfrm>
          <a:prstGeom prst="ellipse">
            <a:avLst/>
          </a:prstGeom>
          <a:solidFill>
            <a:srgbClr val="F08A24"/>
          </a:solidFill>
          <a:ln w="12700">
            <a:solidFill>
              <a:srgbClr val="F08A24"/>
            </a:solidFill>
            <a:prstDash val="solid"/>
          </a:ln>
        </p:spPr>
      </p:sp>
      <p:sp>
        <p:nvSpPr>
          <p:cNvPr id="17" name="Text 15"/>
          <p:cNvSpPr txBox="1"/>
          <p:nvPr/>
        </p:nvSpPr>
        <p:spPr>
          <a:xfrm>
            <a:off x="5541264" y="209397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8" name="Text 16"/>
          <p:cNvSpPr txBox="1"/>
          <p:nvPr/>
        </p:nvSpPr>
        <p:spPr>
          <a:xfrm>
            <a:off x="6181344" y="1901952"/>
            <a:ext cx="5166360" cy="310896"/>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Cyclone intensity</a:t>
            </a:r>
            <a:endParaRPr lang="en-US" sz="1500" dirty="0"/>
          </a:p>
        </p:txBody>
      </p:sp>
      <p:sp>
        <p:nvSpPr>
          <p:cNvPr id="19" name="Text 17"/>
          <p:cNvSpPr txBox="1"/>
          <p:nvPr/>
        </p:nvSpPr>
        <p:spPr>
          <a:xfrm>
            <a:off x="6181344" y="2231136"/>
            <a:ext cx="5166360" cy="603504"/>
          </a:xfrm>
          <a:prstGeom prst="rect">
            <a:avLst/>
          </a:prstGeom>
          <a:noFill/>
          <a:ln/>
        </p:spPr>
        <p:txBody>
          <a:bodyPr wrap="square" lIns="0" tIns="0" rIns="0" bIns="0" rtlCol="0" anchor="ctr"/>
          <a:lstStyle/>
          <a:p>
            <a:pPr indent="0" marL="0">
              <a:lnSpc>
                <a:spcPts val="1600"/>
              </a:lnSpc>
              <a:buNone/>
            </a:pPr>
            <a:r>
              <a:rPr lang="en-US" sz="1200" dirty="0">
                <a:solidFill>
                  <a:srgbClr val="5E7A8C"/>
                </a:solidFill>
                <a:latin typeface="Calibri" pitchFamily="34" charset="0"/>
                <a:ea typeface="Calibri" pitchFamily="34" charset="-122"/>
                <a:cs typeface="Calibri" pitchFamily="34" charset="-120"/>
              </a:rPr>
              <a:t>A storm feeds on heat stored in the top 100 m, not on the surface alone. A daily depth profile is the missing input.</a:t>
            </a:r>
            <a:endParaRPr lang="en-US" sz="1200" dirty="0"/>
          </a:p>
        </p:txBody>
      </p:sp>
      <p:sp>
        <p:nvSpPr>
          <p:cNvPr id="20" name="Shape 18"/>
          <p:cNvSpPr/>
          <p:nvPr/>
        </p:nvSpPr>
        <p:spPr>
          <a:xfrm>
            <a:off x="5285232" y="3136392"/>
            <a:ext cx="6263640" cy="1261872"/>
          </a:xfrm>
          <a:prstGeom prst="roundRect">
            <a:avLst>
              <a:gd name="adj" fmla="val 652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1" name="Shape 19"/>
          <p:cNvSpPr/>
          <p:nvPr/>
        </p:nvSpPr>
        <p:spPr>
          <a:xfrm>
            <a:off x="5541264" y="3529584"/>
            <a:ext cx="475488" cy="475488"/>
          </a:xfrm>
          <a:prstGeom prst="ellipse">
            <a:avLst/>
          </a:prstGeom>
          <a:solidFill>
            <a:srgbClr val="1C7293"/>
          </a:solidFill>
          <a:ln w="12700">
            <a:solidFill>
              <a:srgbClr val="1C7293"/>
            </a:solidFill>
            <a:prstDash val="solid"/>
          </a:ln>
        </p:spPr>
      </p:sp>
      <p:sp>
        <p:nvSpPr>
          <p:cNvPr id="22" name="Text 20"/>
          <p:cNvSpPr txBox="1"/>
          <p:nvPr/>
        </p:nvSpPr>
        <p:spPr>
          <a:xfrm>
            <a:off x="5541264" y="352958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23" name="Text 21"/>
          <p:cNvSpPr txBox="1"/>
          <p:nvPr/>
        </p:nvSpPr>
        <p:spPr>
          <a:xfrm>
            <a:off x="6181344" y="3337560"/>
            <a:ext cx="5166360" cy="310896"/>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Monsoon and fisheries</a:t>
            </a:r>
            <a:endParaRPr lang="en-US" sz="1500" dirty="0"/>
          </a:p>
        </p:txBody>
      </p:sp>
      <p:sp>
        <p:nvSpPr>
          <p:cNvPr id="24" name="Text 22"/>
          <p:cNvSpPr txBox="1"/>
          <p:nvPr/>
        </p:nvSpPr>
        <p:spPr>
          <a:xfrm>
            <a:off x="6181344" y="3666744"/>
            <a:ext cx="5166360" cy="603504"/>
          </a:xfrm>
          <a:prstGeom prst="rect">
            <a:avLst/>
          </a:prstGeom>
          <a:noFill/>
          <a:ln/>
        </p:spPr>
        <p:txBody>
          <a:bodyPr wrap="square" lIns="0" tIns="0" rIns="0" bIns="0" rtlCol="0" anchor="ctr"/>
          <a:lstStyle/>
          <a:p>
            <a:pPr indent="0" marL="0">
              <a:lnSpc>
                <a:spcPts val="1600"/>
              </a:lnSpc>
              <a:buNone/>
            </a:pPr>
            <a:r>
              <a:rPr lang="en-US" sz="1200" dirty="0">
                <a:solidFill>
                  <a:srgbClr val="5E7A8C"/>
                </a:solidFill>
                <a:latin typeface="Calibri" pitchFamily="34" charset="0"/>
                <a:ea typeface="Calibri" pitchFamily="34" charset="-122"/>
                <a:cs typeface="Calibri" pitchFamily="34" charset="-120"/>
              </a:rPr>
              <a:t>Bay of Bengal stratification and Arabian Sea upwelling both live below the surface, and both drive rainfall and catch.</a:t>
            </a:r>
            <a:endParaRPr lang="en-US" sz="1200" dirty="0"/>
          </a:p>
        </p:txBody>
      </p:sp>
      <p:sp>
        <p:nvSpPr>
          <p:cNvPr id="25" name="Shape 23"/>
          <p:cNvSpPr/>
          <p:nvPr/>
        </p:nvSpPr>
        <p:spPr>
          <a:xfrm>
            <a:off x="5285232" y="4572000"/>
            <a:ext cx="6263640" cy="1261872"/>
          </a:xfrm>
          <a:prstGeom prst="roundRect">
            <a:avLst>
              <a:gd name="adj" fmla="val 652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6" name="Shape 24"/>
          <p:cNvSpPr/>
          <p:nvPr/>
        </p:nvSpPr>
        <p:spPr>
          <a:xfrm>
            <a:off x="5541264" y="4965192"/>
            <a:ext cx="475488" cy="475488"/>
          </a:xfrm>
          <a:prstGeom prst="ellipse">
            <a:avLst/>
          </a:prstGeom>
          <a:solidFill>
            <a:srgbClr val="1C7293"/>
          </a:solidFill>
          <a:ln w="12700">
            <a:solidFill>
              <a:srgbClr val="1C7293"/>
            </a:solidFill>
            <a:prstDash val="solid"/>
          </a:ln>
        </p:spPr>
      </p:sp>
      <p:sp>
        <p:nvSpPr>
          <p:cNvPr id="27" name="Text 25"/>
          <p:cNvSpPr txBox="1"/>
          <p:nvPr/>
        </p:nvSpPr>
        <p:spPr>
          <a:xfrm>
            <a:off x="5541264" y="496519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8" name="Text 26"/>
          <p:cNvSpPr txBox="1"/>
          <p:nvPr/>
        </p:nvSpPr>
        <p:spPr>
          <a:xfrm>
            <a:off x="6181344" y="4773168"/>
            <a:ext cx="5166360" cy="310896"/>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Where to send the next float</a:t>
            </a:r>
            <a:endParaRPr lang="en-US" sz="1500" dirty="0"/>
          </a:p>
        </p:txBody>
      </p:sp>
      <p:sp>
        <p:nvSpPr>
          <p:cNvPr id="29" name="Text 27"/>
          <p:cNvSpPr txBox="1"/>
          <p:nvPr/>
        </p:nvSpPr>
        <p:spPr>
          <a:xfrm>
            <a:off x="6181344" y="5102352"/>
            <a:ext cx="5166360" cy="603504"/>
          </a:xfrm>
          <a:prstGeom prst="rect">
            <a:avLst/>
          </a:prstGeom>
          <a:noFill/>
          <a:ln/>
        </p:spPr>
        <p:txBody>
          <a:bodyPr wrap="square" lIns="0" tIns="0" rIns="0" bIns="0" rtlCol="0" anchor="ctr"/>
          <a:lstStyle/>
          <a:p>
            <a:pPr indent="0" marL="0">
              <a:lnSpc>
                <a:spcPts val="1600"/>
              </a:lnSpc>
              <a:buNone/>
            </a:pPr>
            <a:r>
              <a:rPr lang="en-US" sz="1200" dirty="0">
                <a:solidFill>
                  <a:srgbClr val="5E7A8C"/>
                </a:solidFill>
                <a:latin typeface="Calibri" pitchFamily="34" charset="0"/>
                <a:ea typeface="Calibri" pitchFamily="34" charset="-122"/>
                <a:cs typeface="Calibri" pitchFamily="34" charset="-120"/>
              </a:rPr>
              <a:t>The uncertainty map shows where the ocean is least known — which is exactly where a new observation is worth the most.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STATUS</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Where we are, honestly</a:t>
            </a:r>
            <a:endParaRPr lang="en-US" sz="3400" dirty="0"/>
          </a:p>
        </p:txBody>
      </p:sp>
      <p:sp>
        <p:nvSpPr>
          <p:cNvPr id="4" name="Shape 2"/>
          <p:cNvSpPr/>
          <p:nvPr/>
        </p:nvSpPr>
        <p:spPr>
          <a:xfrm>
            <a:off x="640080" y="1682496"/>
            <a:ext cx="5285232" cy="4224528"/>
          </a:xfrm>
          <a:prstGeom prst="roundRect">
            <a:avLst>
              <a:gd name="adj" fmla="val 194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5" name="Text 3"/>
          <p:cNvSpPr txBox="1"/>
          <p:nvPr/>
        </p:nvSpPr>
        <p:spPr>
          <a:xfrm>
            <a:off x="950976" y="1901952"/>
            <a:ext cx="4663440" cy="256032"/>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WORKING TODAY</a:t>
            </a:r>
            <a:endParaRPr lang="en-US" sz="1050" dirty="0"/>
          </a:p>
        </p:txBody>
      </p:sp>
      <p:sp>
        <p:nvSpPr>
          <p:cNvPr id="6" name="Text 4"/>
          <p:cNvSpPr txBox="1"/>
          <p:nvPr/>
        </p:nvSpPr>
        <p:spPr>
          <a:xfrm>
            <a:off x="950976" y="2249424"/>
            <a:ext cx="4718304" cy="3438144"/>
          </a:xfrm>
          <a:prstGeom prst="rect">
            <a:avLst/>
          </a:prstGeom>
          <a:noFill/>
          <a:ln/>
        </p:spPr>
        <p:txBody>
          <a:bodyPr wrap="square" lIns="0" tIns="0" rIns="0" bIns="0" rtlCol="0" anchor="ctr"/>
          <a:lstStyle/>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15 depths, 0–1000 m, exactly as specified</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0.25° grid, daily, 388 gap-free days</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All surface inputs, including winds</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RMSE, correlation and bias reported</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Validated on independent Argo floats</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Leakage-safe train / test protocol</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An uncertainty band on every prediction</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Reproducible from a saved seed + config</a:t>
            </a:r>
            <a:endParaRPr lang="en-US" sz="1300" dirty="0"/>
          </a:p>
        </p:txBody>
      </p:sp>
      <p:sp>
        <p:nvSpPr>
          <p:cNvPr id="7" name="Shape 5"/>
          <p:cNvSpPr/>
          <p:nvPr/>
        </p:nvSpPr>
        <p:spPr>
          <a:xfrm>
            <a:off x="6419088" y="1682496"/>
            <a:ext cx="5129784" cy="4224528"/>
          </a:xfrm>
          <a:prstGeom prst="roundRect">
            <a:avLst>
              <a:gd name="adj" fmla="val 1948"/>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8" name="Text 6"/>
          <p:cNvSpPr txBox="1"/>
          <p:nvPr/>
        </p:nvSpPr>
        <p:spPr>
          <a:xfrm>
            <a:off x="6729984" y="1901952"/>
            <a:ext cx="4480560" cy="256032"/>
          </a:xfrm>
          <a:prstGeom prst="rect">
            <a:avLst/>
          </a:prstGeom>
          <a:noFill/>
          <a:ln/>
        </p:spPr>
        <p:txBody>
          <a:bodyPr wrap="square" lIns="0" tIns="0" rIns="0" bIns="0" rtlCol="0" anchor="ctr"/>
          <a:lstStyle/>
          <a:p>
            <a:pPr indent="0" marL="0">
              <a:buNone/>
            </a:pPr>
            <a:r>
              <a:rPr lang="en-US" sz="1050" b="1" spc="200" kern="0" dirty="0">
                <a:solidFill>
                  <a:srgbClr val="F08A24"/>
                </a:solidFill>
                <a:latin typeface="Calibri" pitchFamily="34" charset="0"/>
                <a:ea typeface="Calibri" pitchFamily="34" charset="-122"/>
                <a:cs typeface="Calibri" pitchFamily="34" charset="-120"/>
              </a:rPr>
              <a:t>LANDED, AND WHAT IS OPEN</a:t>
            </a:r>
            <a:endParaRPr lang="en-US" sz="1050" dirty="0"/>
          </a:p>
        </p:txBody>
      </p:sp>
      <p:sp>
        <p:nvSpPr>
          <p:cNvPr id="9" name="Text 7"/>
          <p:cNvSpPr txBox="1"/>
          <p:nvPr/>
        </p:nvSpPr>
        <p:spPr>
          <a:xfrm>
            <a:off x="6729984" y="2249424"/>
            <a:ext cx="45262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Satellite-only inputs</a:t>
            </a:r>
            <a:endParaRPr lang="en-US" sz="1400" dirty="0"/>
          </a:p>
        </p:txBody>
      </p:sp>
      <p:sp>
        <p:nvSpPr>
          <p:cNvPr id="10" name="Text 8"/>
          <p:cNvSpPr txBox="1"/>
          <p:nvPr/>
        </p:nvSpPr>
        <p:spPr>
          <a:xfrm>
            <a:off x="6729984" y="2542032"/>
            <a:ext cx="4526280" cy="585216"/>
          </a:xfrm>
          <a:prstGeom prst="rect">
            <a:avLst/>
          </a:prstGeom>
          <a:noFill/>
          <a:ln/>
        </p:spPr>
        <p:txBody>
          <a:bodyPr wrap="square" lIns="0" tIns="0" rIns="0" bIns="0" rtlCol="0" anchor="ctr"/>
          <a:lstStyle/>
          <a:p>
            <a:pPr indent="0" marL="0">
              <a:lnSpc>
                <a:spcPts val="1600"/>
              </a:lnSpc>
              <a:buNone/>
            </a:pPr>
            <a:r>
              <a:rPr lang="en-US" sz="1200" dirty="0">
                <a:solidFill>
                  <a:srgbClr val="AEC7D6"/>
                </a:solidFill>
                <a:latin typeface="Calibri" pitchFamily="34" charset="0"/>
                <a:ea typeface="Calibri" pitchFamily="34" charset="-122"/>
                <a:cs typeface="Calibri" pitchFamily="34" charset="-120"/>
              </a:rPr>
              <a:t>Shipped. Satellite inputs only; reanalysis kept as comparator.</a:t>
            </a:r>
            <a:endParaRPr lang="en-US" sz="1200" dirty="0"/>
          </a:p>
        </p:txBody>
      </p:sp>
      <p:sp>
        <p:nvSpPr>
          <p:cNvPr id="11" name="Text 9"/>
          <p:cNvSpPr txBox="1"/>
          <p:nvPr/>
        </p:nvSpPr>
        <p:spPr>
          <a:xfrm>
            <a:off x="6729984" y="3145536"/>
            <a:ext cx="45262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INCOIS gridded Argo</a:t>
            </a:r>
            <a:endParaRPr lang="en-US" sz="1400" dirty="0"/>
          </a:p>
        </p:txBody>
      </p:sp>
      <p:sp>
        <p:nvSpPr>
          <p:cNvPr id="12" name="Text 10"/>
          <p:cNvSpPr txBox="1"/>
          <p:nvPr/>
        </p:nvSpPr>
        <p:spPr>
          <a:xfrm>
            <a:off x="6729984" y="3438144"/>
            <a:ext cx="4526280" cy="585216"/>
          </a:xfrm>
          <a:prstGeom prst="rect">
            <a:avLst/>
          </a:prstGeom>
          <a:noFill/>
          <a:ln/>
        </p:spPr>
        <p:txBody>
          <a:bodyPr wrap="square" lIns="0" tIns="0" rIns="0" bIns="0" rtlCol="0" anchor="ctr"/>
          <a:lstStyle/>
          <a:p>
            <a:pPr indent="0" marL="0">
              <a:lnSpc>
                <a:spcPts val="1600"/>
              </a:lnSpc>
              <a:buNone/>
            </a:pPr>
            <a:r>
              <a:rPr lang="en-US" sz="1200" dirty="0">
                <a:solidFill>
                  <a:srgbClr val="AEC7D6"/>
                </a:solidFill>
                <a:latin typeface="Calibri" pitchFamily="34" charset="0"/>
                <a:ea typeface="Calibri" pitchFamily="34" charset="-122"/>
                <a:cs typeface="Calibri" pitchFamily="34" charset="-120"/>
              </a:rPr>
              <a:t>Still open. We validate on individual Argo floats today.</a:t>
            </a:r>
            <a:endParaRPr lang="en-US" sz="1200" dirty="0"/>
          </a:p>
        </p:txBody>
      </p:sp>
      <p:sp>
        <p:nvSpPr>
          <p:cNvPr id="13" name="Text 11"/>
          <p:cNvSpPr txBox="1"/>
          <p:nvPr/>
        </p:nvSpPr>
        <p:spPr>
          <a:xfrm>
            <a:off x="6729984" y="4041648"/>
            <a:ext cx="45262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Error by basin</a:t>
            </a:r>
            <a:endParaRPr lang="en-US" sz="1400" dirty="0"/>
          </a:p>
        </p:txBody>
      </p:sp>
      <p:sp>
        <p:nvSpPr>
          <p:cNvPr id="14" name="Text 12"/>
          <p:cNvSpPr txBox="1"/>
          <p:nvPr/>
        </p:nvSpPr>
        <p:spPr>
          <a:xfrm>
            <a:off x="6729984" y="4334256"/>
            <a:ext cx="4526280" cy="585216"/>
          </a:xfrm>
          <a:prstGeom prst="rect">
            <a:avLst/>
          </a:prstGeom>
          <a:noFill/>
          <a:ln/>
        </p:spPr>
        <p:txBody>
          <a:bodyPr wrap="square" lIns="0" tIns="0" rIns="0" bIns="0" rtlCol="0" anchor="ctr"/>
          <a:lstStyle/>
          <a:p>
            <a:pPr indent="0" marL="0">
              <a:lnSpc>
                <a:spcPts val="1600"/>
              </a:lnSpc>
              <a:buNone/>
            </a:pPr>
            <a:r>
              <a:rPr lang="en-US" sz="1200" dirty="0">
                <a:solidFill>
                  <a:srgbClr val="AEC7D6"/>
                </a:solidFill>
                <a:latin typeface="Calibri" pitchFamily="34" charset="0"/>
                <a:ea typeface="Calibri" pitchFamily="34" charset="-122"/>
                <a:cs typeface="Calibri" pitchFamily="34" charset="-120"/>
              </a:rPr>
              <a:t>Done. Arabian Sea and Bay of Bengal reported separately.</a:t>
            </a:r>
            <a:endParaRPr lang="en-US" sz="1200" dirty="0"/>
          </a:p>
        </p:txBody>
      </p:sp>
      <p:sp>
        <p:nvSpPr>
          <p:cNvPr id="15" name="Text 13"/>
          <p:cNvSpPr txBox="1"/>
          <p:nvPr/>
        </p:nvSpPr>
        <p:spPr>
          <a:xfrm>
            <a:off x="6729984" y="4937760"/>
            <a:ext cx="45262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Three-seed ablations</a:t>
            </a:r>
            <a:endParaRPr lang="en-US" sz="1400" dirty="0"/>
          </a:p>
        </p:txBody>
      </p:sp>
      <p:sp>
        <p:nvSpPr>
          <p:cNvPr id="16" name="Text 14"/>
          <p:cNvSpPr txBox="1"/>
          <p:nvPr/>
        </p:nvSpPr>
        <p:spPr>
          <a:xfrm>
            <a:off x="6729984" y="5230368"/>
            <a:ext cx="4526280" cy="585216"/>
          </a:xfrm>
          <a:prstGeom prst="rect">
            <a:avLst/>
          </a:prstGeom>
          <a:noFill/>
          <a:ln/>
        </p:spPr>
        <p:txBody>
          <a:bodyPr wrap="square" lIns="0" tIns="0" rIns="0" bIns="0" rtlCol="0" anchor="ctr"/>
          <a:lstStyle/>
          <a:p>
            <a:pPr indent="0" marL="0">
              <a:lnSpc>
                <a:spcPts val="1600"/>
              </a:lnSpc>
              <a:buNone/>
            </a:pPr>
            <a:r>
              <a:rPr lang="en-US" sz="1200" dirty="0">
                <a:solidFill>
                  <a:srgbClr val="AEC7D6"/>
                </a:solidFill>
                <a:latin typeface="Calibri" pitchFamily="34" charset="0"/>
                <a:ea typeface="Calibri" pitchFamily="34" charset="-122"/>
                <a:cs typeface="Calibri" pitchFamily="34" charset="-120"/>
              </a:rPr>
              <a:t>Done. Three seeds per leg; 0.02 °C effects did not hold their sign.</a:t>
            </a:r>
            <a:endParaRPr lang="en-US" sz="1200" dirty="0"/>
          </a:p>
        </p:txBody>
      </p:sp>
      <p:sp>
        <p:nvSpPr>
          <p:cNvPr id="17" name="Text 15"/>
          <p:cNvSpPr txBox="1"/>
          <p:nvPr/>
        </p:nvSpPr>
        <p:spPr>
          <a:xfrm>
            <a:off x="640080" y="6053328"/>
            <a:ext cx="10881360" cy="365760"/>
          </a:xfrm>
          <a:prstGeom prst="rect">
            <a:avLst/>
          </a:prstGeom>
          <a:noFill/>
          <a:ln/>
        </p:spPr>
        <p:txBody>
          <a:bodyPr wrap="square" lIns="0" tIns="0" rIns="0" bIns="0" rtlCol="0" anchor="ctr"/>
          <a:lstStyle/>
          <a:p>
            <a:pPr indent="0" marL="0">
              <a:buNone/>
            </a:pPr>
            <a:r>
              <a:rPr lang="en-US" sz="1500" i="1" dirty="0">
                <a:solidFill>
                  <a:srgbClr val="1C7293"/>
                </a:solidFill>
                <a:latin typeface="Cambria" pitchFamily="34" charset="0"/>
                <a:ea typeface="Cambria" pitchFamily="34" charset="-122"/>
                <a:cs typeface="Cambria" pitchFamily="34" charset="-120"/>
              </a:rPr>
              <a:t>We would rather show you a shorter list that is true than a longer one that is not.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822960" y="6053328"/>
            <a:ext cx="1133856" cy="201168"/>
          </a:xfrm>
          <a:prstGeom prst="roundRect">
            <a:avLst>
              <a:gd name="adj" fmla="val 18182"/>
            </a:avLst>
          </a:prstGeom>
          <a:solidFill>
            <a:srgbClr val="0A2540"/>
          </a:solidFill>
          <a:ln w="12700">
            <a:solidFill>
              <a:srgbClr val="0A2540"/>
            </a:solidFill>
            <a:prstDash val="solid"/>
          </a:ln>
        </p:spPr>
      </p:sp>
      <p:sp>
        <p:nvSpPr>
          <p:cNvPr id="3" name="Shape 1"/>
          <p:cNvSpPr/>
          <p:nvPr/>
        </p:nvSpPr>
        <p:spPr>
          <a:xfrm>
            <a:off x="2048256" y="6053328"/>
            <a:ext cx="1133856" cy="201168"/>
          </a:xfrm>
          <a:prstGeom prst="roundRect">
            <a:avLst>
              <a:gd name="adj" fmla="val 18182"/>
            </a:avLst>
          </a:prstGeom>
          <a:solidFill>
            <a:srgbClr val="0F3A52"/>
          </a:solidFill>
          <a:ln w="12700">
            <a:solidFill>
              <a:srgbClr val="0F3A52"/>
            </a:solidFill>
            <a:prstDash val="solid"/>
          </a:ln>
        </p:spPr>
      </p:sp>
      <p:sp>
        <p:nvSpPr>
          <p:cNvPr id="4" name="Shape 2"/>
          <p:cNvSpPr/>
          <p:nvPr/>
        </p:nvSpPr>
        <p:spPr>
          <a:xfrm>
            <a:off x="3273552" y="6053328"/>
            <a:ext cx="1133856" cy="201168"/>
          </a:xfrm>
          <a:prstGeom prst="roundRect">
            <a:avLst>
              <a:gd name="adj" fmla="val 18182"/>
            </a:avLst>
          </a:prstGeom>
          <a:solidFill>
            <a:srgbClr val="16506A"/>
          </a:solidFill>
          <a:ln w="12700">
            <a:solidFill>
              <a:srgbClr val="16506A"/>
            </a:solidFill>
            <a:prstDash val="solid"/>
          </a:ln>
        </p:spPr>
      </p:sp>
      <p:sp>
        <p:nvSpPr>
          <p:cNvPr id="5" name="Shape 3"/>
          <p:cNvSpPr/>
          <p:nvPr/>
        </p:nvSpPr>
        <p:spPr>
          <a:xfrm>
            <a:off x="4498848" y="6053328"/>
            <a:ext cx="1133856" cy="201168"/>
          </a:xfrm>
          <a:prstGeom prst="roundRect">
            <a:avLst>
              <a:gd name="adj" fmla="val 18182"/>
            </a:avLst>
          </a:prstGeom>
          <a:solidFill>
            <a:srgbClr val="236B85"/>
          </a:solidFill>
          <a:ln w="12700">
            <a:solidFill>
              <a:srgbClr val="236B85"/>
            </a:solidFill>
            <a:prstDash val="solid"/>
          </a:ln>
        </p:spPr>
      </p:sp>
      <p:sp>
        <p:nvSpPr>
          <p:cNvPr id="6" name="Shape 4"/>
          <p:cNvSpPr/>
          <p:nvPr/>
        </p:nvSpPr>
        <p:spPr>
          <a:xfrm>
            <a:off x="5724144" y="6053328"/>
            <a:ext cx="1133856" cy="201168"/>
          </a:xfrm>
          <a:prstGeom prst="roundRect">
            <a:avLst>
              <a:gd name="adj" fmla="val 18182"/>
            </a:avLst>
          </a:prstGeom>
          <a:solidFill>
            <a:srgbClr val="33879F"/>
          </a:solidFill>
          <a:ln w="12700">
            <a:solidFill>
              <a:srgbClr val="33879F"/>
            </a:solidFill>
            <a:prstDash val="solid"/>
          </a:ln>
        </p:spPr>
      </p:sp>
      <p:sp>
        <p:nvSpPr>
          <p:cNvPr id="7" name="Shape 5"/>
          <p:cNvSpPr/>
          <p:nvPr/>
        </p:nvSpPr>
        <p:spPr>
          <a:xfrm>
            <a:off x="6949440" y="6053328"/>
            <a:ext cx="1133856" cy="201168"/>
          </a:xfrm>
          <a:prstGeom prst="roundRect">
            <a:avLst>
              <a:gd name="adj" fmla="val 18182"/>
            </a:avLst>
          </a:prstGeom>
          <a:solidFill>
            <a:srgbClr val="4B9FBC"/>
          </a:solidFill>
          <a:ln w="12700">
            <a:solidFill>
              <a:srgbClr val="4B9FBC"/>
            </a:solidFill>
            <a:prstDash val="solid"/>
          </a:ln>
        </p:spPr>
      </p:sp>
      <p:sp>
        <p:nvSpPr>
          <p:cNvPr id="8" name="Shape 6"/>
          <p:cNvSpPr/>
          <p:nvPr/>
        </p:nvSpPr>
        <p:spPr>
          <a:xfrm>
            <a:off x="8174736" y="6053328"/>
            <a:ext cx="1133856" cy="201168"/>
          </a:xfrm>
          <a:prstGeom prst="roundRect">
            <a:avLst>
              <a:gd name="adj" fmla="val 18182"/>
            </a:avLst>
          </a:prstGeom>
          <a:solidFill>
            <a:srgbClr val="6AB6CE"/>
          </a:solidFill>
          <a:ln w="12700">
            <a:solidFill>
              <a:srgbClr val="6AB6CE"/>
            </a:solidFill>
            <a:prstDash val="solid"/>
          </a:ln>
        </p:spPr>
      </p:sp>
      <p:sp>
        <p:nvSpPr>
          <p:cNvPr id="9" name="Shape 7"/>
          <p:cNvSpPr/>
          <p:nvPr/>
        </p:nvSpPr>
        <p:spPr>
          <a:xfrm>
            <a:off x="9400032" y="6053328"/>
            <a:ext cx="1133856" cy="201168"/>
          </a:xfrm>
          <a:prstGeom prst="roundRect">
            <a:avLst>
              <a:gd name="adj" fmla="val 18182"/>
            </a:avLst>
          </a:prstGeom>
          <a:solidFill>
            <a:srgbClr val="8ACBDE"/>
          </a:solidFill>
          <a:ln w="12700">
            <a:solidFill>
              <a:srgbClr val="8ACBDE"/>
            </a:solidFill>
            <a:prstDash val="solid"/>
          </a:ln>
        </p:spPr>
      </p:sp>
      <p:sp>
        <p:nvSpPr>
          <p:cNvPr id="10" name="Shape 8"/>
          <p:cNvSpPr/>
          <p:nvPr/>
        </p:nvSpPr>
        <p:spPr>
          <a:xfrm>
            <a:off x="10625328" y="6053328"/>
            <a:ext cx="1133856" cy="201168"/>
          </a:xfrm>
          <a:prstGeom prst="roundRect">
            <a:avLst>
              <a:gd name="adj" fmla="val 18182"/>
            </a:avLst>
          </a:prstGeom>
          <a:solidFill>
            <a:srgbClr val="A8DCE8"/>
          </a:solidFill>
          <a:ln w="12700">
            <a:solidFill>
              <a:srgbClr val="A8DCE8"/>
            </a:solidFill>
            <a:prstDash val="solid"/>
          </a:ln>
        </p:spPr>
      </p:sp>
      <p:sp>
        <p:nvSpPr>
          <p:cNvPr id="11" name="Text 9"/>
          <p:cNvSpPr txBox="1"/>
          <p:nvPr/>
        </p:nvSpPr>
        <p:spPr>
          <a:xfrm>
            <a:off x="822960" y="1298448"/>
            <a:ext cx="7315200" cy="274320"/>
          </a:xfrm>
          <a:prstGeom prst="rect">
            <a:avLst/>
          </a:prstGeom>
          <a:noFill/>
          <a:ln/>
        </p:spPr>
        <p:txBody>
          <a:bodyPr wrap="square" lIns="0" tIns="0" rIns="0" bIns="0" rtlCol="0" anchor="ctr"/>
          <a:lstStyle/>
          <a:p>
            <a:pPr indent="0" marL="0">
              <a:buNone/>
            </a:pPr>
            <a:r>
              <a:rPr lang="en-US" sz="1150" b="1" spc="260" kern="0" dirty="0">
                <a:solidFill>
                  <a:srgbClr val="7FC5D8"/>
                </a:solidFill>
                <a:latin typeface="Calibri" pitchFamily="34" charset="0"/>
                <a:ea typeface="Calibri" pitchFamily="34" charset="-122"/>
                <a:cs typeface="Calibri" pitchFamily="34" charset="-120"/>
              </a:rPr>
              <a:t>THE ONE-LINE VERSION</a:t>
            </a:r>
            <a:endParaRPr lang="en-US" sz="1150" dirty="0"/>
          </a:p>
        </p:txBody>
      </p:sp>
      <p:sp>
        <p:nvSpPr>
          <p:cNvPr id="12" name="Text 10"/>
          <p:cNvSpPr txBox="1"/>
          <p:nvPr/>
        </p:nvSpPr>
        <p:spPr>
          <a:xfrm>
            <a:off x="822960" y="1700784"/>
            <a:ext cx="10424160" cy="2011680"/>
          </a:xfrm>
          <a:prstGeom prst="rect">
            <a:avLst/>
          </a:prstGeom>
          <a:noFill/>
          <a:ln/>
        </p:spPr>
        <p:txBody>
          <a:bodyPr wrap="square" lIns="0" tIns="0" rIns="0" bIns="0" rtlCol="0" anchor="ctr"/>
          <a:lstStyle/>
          <a:p>
            <a:pPr indent="0" marL="0">
              <a:lnSpc>
                <a:spcPts val="4400"/>
              </a:lnSpc>
              <a:buNone/>
            </a:pPr>
            <a:r>
              <a:rPr lang="en-US" sz="3000" b="1" dirty="0">
                <a:solidFill>
                  <a:srgbClr val="FFFFFF"/>
                </a:solidFill>
                <a:latin typeface="Cambria" pitchFamily="34" charset="0"/>
                <a:ea typeface="Cambria" pitchFamily="34" charset="-122"/>
                <a:cs typeface="Cambria" pitchFamily="34" charset="-120"/>
              </a:rPr>
              <a:t>We can estimate the temperature of the North Indian Ocean from the surface down to 1000 m, every day — and we can tell you how much to trust each number.</a:t>
            </a:r>
            <a:endParaRPr lang="en-US" sz="3000" dirty="0"/>
          </a:p>
        </p:txBody>
      </p:sp>
      <p:sp>
        <p:nvSpPr>
          <p:cNvPr id="13" name="Text 11"/>
          <p:cNvSpPr txBox="1"/>
          <p:nvPr/>
        </p:nvSpPr>
        <p:spPr>
          <a:xfrm>
            <a:off x="822960" y="4078224"/>
            <a:ext cx="2487168" cy="402336"/>
          </a:xfrm>
          <a:prstGeom prst="rect">
            <a:avLst/>
          </a:prstGeom>
          <a:noFill/>
          <a:ln/>
        </p:spPr>
        <p:txBody>
          <a:bodyPr wrap="square" lIns="0" tIns="0" rIns="0" bIns="0" rtlCol="0" anchor="ctr"/>
          <a:lstStyle/>
          <a:p>
            <a:pPr indent="0" marL="0">
              <a:buNone/>
            </a:pPr>
            <a:r>
              <a:rPr lang="en-US" sz="2100" b="1" dirty="0">
                <a:solidFill>
                  <a:srgbClr val="7FC5D8"/>
                </a:solidFill>
                <a:latin typeface="Cambria" pitchFamily="34" charset="0"/>
                <a:ea typeface="Cambria" pitchFamily="34" charset="-122"/>
                <a:cs typeface="Cambria" pitchFamily="34" charset="-120"/>
              </a:rPr>
              <a:t>0.91 °C</a:t>
            </a:r>
            <a:endParaRPr lang="en-US" sz="2100" dirty="0"/>
          </a:p>
        </p:txBody>
      </p:sp>
      <p:sp>
        <p:nvSpPr>
          <p:cNvPr id="14" name="Text 12"/>
          <p:cNvSpPr txBox="1"/>
          <p:nvPr/>
        </p:nvSpPr>
        <p:spPr>
          <a:xfrm>
            <a:off x="822960" y="4498848"/>
            <a:ext cx="2487168" cy="603504"/>
          </a:xfrm>
          <a:prstGeom prst="rect">
            <a:avLst/>
          </a:prstGeom>
          <a:noFill/>
          <a:ln/>
        </p:spPr>
        <p:txBody>
          <a:bodyPr wrap="square" lIns="0" tIns="0" rIns="0" bIns="0" rtlCol="0" anchor="ctr"/>
          <a:lstStyle/>
          <a:p>
            <a:pPr indent="0" marL="0">
              <a:lnSpc>
                <a:spcPts val="1600"/>
              </a:lnSpc>
              <a:buNone/>
            </a:pPr>
            <a:r>
              <a:rPr lang="en-US" sz="1200" dirty="0">
                <a:solidFill>
                  <a:srgbClr val="9DB7C6"/>
                </a:solidFill>
                <a:latin typeface="Calibri" pitchFamily="34" charset="0"/>
                <a:ea typeface="Calibri" pitchFamily="34" charset="-122"/>
                <a:cs typeface="Calibri" pitchFamily="34" charset="-120"/>
              </a:rPr>
              <a:t>average error against real floats</a:t>
            </a:r>
            <a:endParaRPr lang="en-US" sz="1200" dirty="0"/>
          </a:p>
        </p:txBody>
      </p:sp>
      <p:sp>
        <p:nvSpPr>
          <p:cNvPr id="15" name="Text 13"/>
          <p:cNvSpPr txBox="1"/>
          <p:nvPr/>
        </p:nvSpPr>
        <p:spPr>
          <a:xfrm>
            <a:off x="3493008" y="4078224"/>
            <a:ext cx="2487168" cy="402336"/>
          </a:xfrm>
          <a:prstGeom prst="rect">
            <a:avLst/>
          </a:prstGeom>
          <a:noFill/>
          <a:ln/>
        </p:spPr>
        <p:txBody>
          <a:bodyPr wrap="square" lIns="0" tIns="0" rIns="0" bIns="0" rtlCol="0" anchor="ctr"/>
          <a:lstStyle/>
          <a:p>
            <a:pPr indent="0" marL="0">
              <a:buNone/>
            </a:pPr>
            <a:r>
              <a:rPr lang="en-US" sz="2100" b="1" dirty="0">
                <a:solidFill>
                  <a:srgbClr val="7FC5D8"/>
                </a:solidFill>
                <a:latin typeface="Cambria" pitchFamily="34" charset="0"/>
                <a:ea typeface="Cambria" pitchFamily="34" charset="-122"/>
                <a:cs typeface="Cambria" pitchFamily="34" charset="-120"/>
              </a:rPr>
              <a:t>15 depths</a:t>
            </a:r>
            <a:endParaRPr lang="en-US" sz="2100" dirty="0"/>
          </a:p>
        </p:txBody>
      </p:sp>
      <p:sp>
        <p:nvSpPr>
          <p:cNvPr id="16" name="Text 14"/>
          <p:cNvSpPr txBox="1"/>
          <p:nvPr/>
        </p:nvSpPr>
        <p:spPr>
          <a:xfrm>
            <a:off x="3493008" y="4498848"/>
            <a:ext cx="2487168" cy="603504"/>
          </a:xfrm>
          <a:prstGeom prst="rect">
            <a:avLst/>
          </a:prstGeom>
          <a:noFill/>
          <a:ln/>
        </p:spPr>
        <p:txBody>
          <a:bodyPr wrap="square" lIns="0" tIns="0" rIns="0" bIns="0" rtlCol="0" anchor="ctr"/>
          <a:lstStyle/>
          <a:p>
            <a:pPr indent="0" marL="0">
              <a:lnSpc>
                <a:spcPts val="1600"/>
              </a:lnSpc>
              <a:buNone/>
            </a:pPr>
            <a:r>
              <a:rPr lang="en-US" sz="1200" dirty="0">
                <a:solidFill>
                  <a:srgbClr val="9DB7C6"/>
                </a:solidFill>
                <a:latin typeface="Calibri" pitchFamily="34" charset="0"/>
                <a:ea typeface="Calibri" pitchFamily="34" charset="-122"/>
                <a:cs typeface="Calibri" pitchFamily="34" charset="-120"/>
              </a:rPr>
              <a:t>0 to 1000 m, daily, at 0.25°</a:t>
            </a:r>
            <a:endParaRPr lang="en-US" sz="1200" dirty="0"/>
          </a:p>
        </p:txBody>
      </p:sp>
      <p:sp>
        <p:nvSpPr>
          <p:cNvPr id="17" name="Text 15"/>
          <p:cNvSpPr txBox="1"/>
          <p:nvPr/>
        </p:nvSpPr>
        <p:spPr>
          <a:xfrm>
            <a:off x="6163056" y="4078224"/>
            <a:ext cx="2487168" cy="402336"/>
          </a:xfrm>
          <a:prstGeom prst="rect">
            <a:avLst/>
          </a:prstGeom>
          <a:noFill/>
          <a:ln/>
        </p:spPr>
        <p:txBody>
          <a:bodyPr wrap="square" lIns="0" tIns="0" rIns="0" bIns="0" rtlCol="0" anchor="ctr"/>
          <a:lstStyle/>
          <a:p>
            <a:pPr indent="0" marL="0">
              <a:buNone/>
            </a:pPr>
            <a:r>
              <a:rPr lang="en-US" sz="2100" b="1" dirty="0">
                <a:solidFill>
                  <a:srgbClr val="7FC5D8"/>
                </a:solidFill>
                <a:latin typeface="Cambria" pitchFamily="34" charset="0"/>
                <a:ea typeface="Cambria" pitchFamily="34" charset="-122"/>
                <a:cs typeface="Cambria" pitchFamily="34" charset="-120"/>
              </a:rPr>
              <a:t>962 profiles</a:t>
            </a:r>
            <a:endParaRPr lang="en-US" sz="2100" dirty="0"/>
          </a:p>
        </p:txBody>
      </p:sp>
      <p:sp>
        <p:nvSpPr>
          <p:cNvPr id="18" name="Text 16"/>
          <p:cNvSpPr txBox="1"/>
          <p:nvPr/>
        </p:nvSpPr>
        <p:spPr>
          <a:xfrm>
            <a:off x="6163056" y="4498848"/>
            <a:ext cx="2487168" cy="603504"/>
          </a:xfrm>
          <a:prstGeom prst="rect">
            <a:avLst/>
          </a:prstGeom>
          <a:noFill/>
          <a:ln/>
        </p:spPr>
        <p:txBody>
          <a:bodyPr wrap="square" lIns="0" tIns="0" rIns="0" bIns="0" rtlCol="0" anchor="ctr"/>
          <a:lstStyle/>
          <a:p>
            <a:pPr indent="0" marL="0">
              <a:lnSpc>
                <a:spcPts val="1600"/>
              </a:lnSpc>
              <a:buNone/>
            </a:pPr>
            <a:r>
              <a:rPr lang="en-US" sz="1200" dirty="0">
                <a:solidFill>
                  <a:srgbClr val="9DB7C6"/>
                </a:solidFill>
                <a:latin typeface="Calibri" pitchFamily="34" charset="0"/>
                <a:ea typeface="Calibri" pitchFamily="34" charset="-122"/>
                <a:cs typeface="Calibri" pitchFamily="34" charset="-120"/>
              </a:rPr>
              <a:t>independent, never trained on</a:t>
            </a:r>
            <a:endParaRPr lang="en-US" sz="1200" dirty="0"/>
          </a:p>
        </p:txBody>
      </p:sp>
      <p:sp>
        <p:nvSpPr>
          <p:cNvPr id="19" name="Text 17"/>
          <p:cNvSpPr txBox="1"/>
          <p:nvPr/>
        </p:nvSpPr>
        <p:spPr>
          <a:xfrm>
            <a:off x="8833104" y="4078224"/>
            <a:ext cx="2487168" cy="402336"/>
          </a:xfrm>
          <a:prstGeom prst="rect">
            <a:avLst/>
          </a:prstGeom>
          <a:noFill/>
          <a:ln/>
        </p:spPr>
        <p:txBody>
          <a:bodyPr wrap="square" lIns="0" tIns="0" rIns="0" bIns="0" rtlCol="0" anchor="ctr"/>
          <a:lstStyle/>
          <a:p>
            <a:pPr indent="0" marL="0">
              <a:buNone/>
            </a:pPr>
            <a:r>
              <a:rPr lang="en-US" sz="2100" b="1" dirty="0">
                <a:solidFill>
                  <a:srgbClr val="7FC5D8"/>
                </a:solidFill>
                <a:latin typeface="Cambria" pitchFamily="34" charset="0"/>
                <a:ea typeface="Cambria" pitchFamily="34" charset="-122"/>
                <a:cs typeface="Cambria" pitchFamily="34" charset="-120"/>
              </a:rPr>
              <a:t>Reproducible</a:t>
            </a:r>
            <a:endParaRPr lang="en-US" sz="2100" dirty="0"/>
          </a:p>
        </p:txBody>
      </p:sp>
      <p:sp>
        <p:nvSpPr>
          <p:cNvPr id="20" name="Text 18"/>
          <p:cNvSpPr txBox="1"/>
          <p:nvPr/>
        </p:nvSpPr>
        <p:spPr>
          <a:xfrm>
            <a:off x="8833104" y="4498848"/>
            <a:ext cx="2487168" cy="603504"/>
          </a:xfrm>
          <a:prstGeom prst="rect">
            <a:avLst/>
          </a:prstGeom>
          <a:noFill/>
          <a:ln/>
        </p:spPr>
        <p:txBody>
          <a:bodyPr wrap="square" lIns="0" tIns="0" rIns="0" bIns="0" rtlCol="0" anchor="ctr"/>
          <a:lstStyle/>
          <a:p>
            <a:pPr indent="0" marL="0">
              <a:lnSpc>
                <a:spcPts val="1600"/>
              </a:lnSpc>
              <a:buNone/>
            </a:pPr>
            <a:r>
              <a:rPr lang="en-US" sz="1200" dirty="0">
                <a:solidFill>
                  <a:srgbClr val="9DB7C6"/>
                </a:solidFill>
                <a:latin typeface="Calibri" pitchFamily="34" charset="0"/>
                <a:ea typeface="Calibri" pitchFamily="34" charset="-122"/>
                <a:cs typeface="Calibri" pitchFamily="34" charset="-120"/>
              </a:rPr>
              <a:t>seed, config and metrics saved</a:t>
            </a:r>
            <a:endParaRPr lang="en-US" sz="1200" dirty="0"/>
          </a:p>
        </p:txBody>
      </p:sp>
      <p:sp>
        <p:nvSpPr>
          <p:cNvPr id="21" name="Text 19"/>
          <p:cNvSpPr txBox="1"/>
          <p:nvPr/>
        </p:nvSpPr>
        <p:spPr>
          <a:xfrm>
            <a:off x="822960" y="5394960"/>
            <a:ext cx="10424160" cy="329184"/>
          </a:xfrm>
          <a:prstGeom prst="rect">
            <a:avLst/>
          </a:prstGeom>
          <a:noFill/>
          <a:ln/>
        </p:spPr>
        <p:txBody>
          <a:bodyPr wrap="square" lIns="0" tIns="0" rIns="0" bIns="0" rtlCol="0" anchor="ctr"/>
          <a:lstStyle/>
          <a:p>
            <a:pPr indent="0" marL="0">
              <a:buNone/>
            </a:pPr>
            <a:r>
              <a:rPr lang="en-US" sz="1300" dirty="0">
                <a:solidFill>
                  <a:srgbClr val="8AA3B2"/>
                </a:solidFill>
                <a:latin typeface="Calibri" pitchFamily="34" charset="0"/>
                <a:ea typeface="Calibri" pitchFamily="34" charset="-122"/>
                <a:cs typeface="Calibri" pitchFamily="34" charset="-120"/>
              </a:rPr>
              <a:t>OceanEmbed  ·  SIH26066  ·  Arjhun · Darshan · Mitun · Niru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OceanEmbed - SIH26066</dc:title>
  <dc:subject>PptxGenJS Presentation</dc:subject>
  <dc:creator>Team OceanEmbed</dc:creator>
  <cp:lastModifiedBy>Team OceanEmbed</cp:lastModifiedBy>
  <cp:revision>1</cp:revision>
  <dcterms:created xsi:type="dcterms:W3CDTF">2026-09-01T19:13:41Z</dcterms:created>
  <dcterms:modified xsi:type="dcterms:W3CDTF">2026-09-01T19:13:41Z</dcterms:modified>
</cp:coreProperties>
</file>